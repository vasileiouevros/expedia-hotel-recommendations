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979" autoAdjust="0"/>
  </p:normalViewPr>
  <p:slideViewPr>
    <p:cSldViewPr snapToGrid="0">
      <p:cViewPr varScale="1">
        <p:scale>
          <a:sx n="74" d="100"/>
          <a:sy n="74" d="100"/>
        </p:scale>
        <p:origin x="990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Good morning. This presentation is about my project on Expedia hotel recommendations using session-based modeling.</a:t>
            </a:r>
          </a:p>
          <a:p>
            <a:endParaRPr lang="en-US" dirty="0"/>
          </a:p>
          <a:p>
            <a:r>
              <a:rPr lang="en-US" dirty="0"/>
              <a:t>The goal is to predict the next hotel a user is likely to click within a browsing session using Word2Vec embeddings learned from click sequences.</a:t>
            </a:r>
          </a:p>
          <a:p>
            <a:endParaRPr lang="en-US" dirty="0"/>
          </a:p>
          <a:p>
            <a:r>
              <a:rPr lang="en-US" dirty="0"/>
              <a:t>The main result is that embedding-based methods clearly outperform a popularity baseline, and the best-performing model is the previous-item approach with a Hits@10 of 0.0592 on the test set.</a:t>
            </a:r>
          </a:p>
          <a:p>
            <a:endParaRPr lang="en-US" dirty="0"/>
          </a:p>
          <a:p>
            <a:r>
              <a:rPr lang="en-US" dirty="0"/>
              <a:t>I will walk through the problem, the data pipeline, the methodology, the implementation, and the key findings.</a:t>
            </a:r>
          </a:p>
        </p:txBody>
      </p:sp>
      <p:sp>
        <p:nvSpPr>
          <p:cNvPr id="15" name="Google Shape;1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49" name="Google Shape;4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The main challenge is that users browse many hotels within a session, and their preferences can change quickly.</a:t>
            </a:r>
          </a:p>
          <a:p>
            <a:endParaRPr lang="en-US" dirty="0"/>
          </a:p>
          <a:p>
            <a:r>
              <a:rPr lang="en-US" dirty="0"/>
              <a:t>A simple popularity model is easy to implement, but it ignores the order of interactions.</a:t>
            </a:r>
          </a:p>
          <a:p>
            <a:endParaRPr lang="en-US" dirty="0"/>
          </a:p>
          <a:p>
            <a:r>
              <a:rPr lang="en-US" dirty="0"/>
              <a:t>So I formulate this as a session-based next-item prediction problem.</a:t>
            </a:r>
          </a:p>
          <a:p>
            <a:endParaRPr lang="en-US" dirty="0"/>
          </a:p>
          <a:p>
            <a:r>
              <a:rPr lang="en-US" dirty="0"/>
              <a:t>Given the hotels already clicked in a session, the system must rank the next hotel the user is most likely to select.</a:t>
            </a:r>
          </a:p>
          <a:p>
            <a:endParaRPr lang="en-US" dirty="0"/>
          </a:p>
          <a:p>
            <a:r>
              <a:rPr lang="en-US" dirty="0"/>
              <a:t>My hypothesis is that sequential behavior within a session provides a stronger signal than global popularity.</a:t>
            </a:r>
          </a:p>
        </p:txBody>
      </p:sp>
      <p:sp>
        <p:nvSpPr>
          <p:cNvPr id="50" name="Google Shape;5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The dataset represents sessions as click sequences, where each row contains comma-separated hotel IDs.</a:t>
            </a:r>
          </a:p>
          <a:p>
            <a:endParaRPr lang="en-US" dirty="0"/>
          </a:p>
          <a:p>
            <a:r>
              <a:rPr lang="en-US" dirty="0"/>
              <a:t>During preprocessing, I convert these into ordered lists to preserve the temporal structure.</a:t>
            </a:r>
          </a:p>
          <a:p>
            <a:endParaRPr lang="en-US" dirty="0"/>
          </a:p>
          <a:p>
            <a:r>
              <a:rPr lang="en-US" dirty="0"/>
              <a:t>I remove sessions with fewer than two interactions, since they are not useful for prediction.</a:t>
            </a:r>
          </a:p>
          <a:p>
            <a:endParaRPr lang="en-US" dirty="0"/>
          </a:p>
          <a:p>
            <a:r>
              <a:rPr lang="en-US" dirty="0"/>
              <a:t>To keep the experiment feasible, I use a random 5% sample with a fixed seed, and split it into 80% training, 10% validation, and 10% test.</a:t>
            </a:r>
          </a:p>
          <a:p>
            <a:endParaRPr lang="en-US" dirty="0"/>
          </a:p>
        </p:txBody>
      </p:sp>
      <p:sp>
        <p:nvSpPr>
          <p:cNvPr id="92" name="Google Shape;9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The exploratory analysis shows two key patterns.</a:t>
            </a:r>
          </a:p>
          <a:p>
            <a:endParaRPr lang="en-US" dirty="0"/>
          </a:p>
          <a:p>
            <a:r>
              <a:rPr lang="en-US" dirty="0"/>
              <a:t>First, most sessions are short, meaning user intent is often captured by just a few interactions.</a:t>
            </a:r>
          </a:p>
          <a:p>
            <a:endParaRPr lang="en-US" dirty="0"/>
          </a:p>
          <a:p>
            <a:r>
              <a:rPr lang="en-US" dirty="0"/>
              <a:t>Second, hotel popularity follows a long-tail distribution, where a small number of hotels appear frequently and many are rare.</a:t>
            </a:r>
          </a:p>
          <a:p>
            <a:endParaRPr lang="en-US" dirty="0"/>
          </a:p>
          <a:p>
            <a:r>
              <a:rPr lang="en-US" dirty="0"/>
              <a:t>This makes the problem challenging, because the model must learn from limited signals in a very sparse item space.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The main idea is to treat each session as a sentence and each hotel as a word.</a:t>
            </a:r>
          </a:p>
          <a:p>
            <a:endParaRPr lang="en-US" dirty="0"/>
          </a:p>
          <a:p>
            <a:r>
              <a:rPr lang="en-US" dirty="0"/>
              <a:t>Word2Vec learns embeddings based on co-occurrence patterns, so hotels appearing in similar contexts get similar vector representations.</a:t>
            </a:r>
          </a:p>
          <a:p>
            <a:endParaRPr lang="en-US" dirty="0"/>
          </a:p>
          <a:p>
            <a:r>
              <a:rPr lang="en-US" dirty="0"/>
              <a:t>I use the skip-gram architecture with negative sampling, which is efficient and helps learn better representations for less frequent hotels.</a:t>
            </a:r>
          </a:p>
          <a:p>
            <a:endParaRPr lang="en-US" dirty="0"/>
          </a:p>
          <a:p>
            <a:r>
              <a:rPr lang="en-US" dirty="0"/>
              <a:t>Similarity between hotels is computed using the dot product between their embedding vectors.</a:t>
            </a:r>
          </a:p>
          <a:p>
            <a:endParaRPr lang="en-US" dirty="0"/>
          </a:p>
          <a:p>
            <a:r>
              <a:rPr lang="en-US" dirty="0"/>
              <a:t>After tuning, the best configuration used vector size 64, window 3, negative sampling 8, learning rate 0.01, </a:t>
            </a:r>
            <a:r>
              <a:rPr lang="en-US" dirty="0" err="1"/>
              <a:t>min_count</a:t>
            </a:r>
            <a:r>
              <a:rPr lang="en-US" dirty="0"/>
              <a:t> 5, and 10 epochs.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1" name="Google Shape;18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255" name="Google Shape;25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I evaluate three recommendation strategies.</a:t>
            </a:r>
          </a:p>
          <a:p>
            <a:endParaRPr lang="en-US" dirty="0"/>
          </a:p>
          <a:p>
            <a:r>
              <a:rPr lang="en-US" dirty="0"/>
              <a:t>The first is a popularity baseline, which ranks hotels by frequency.</a:t>
            </a:r>
          </a:p>
          <a:p>
            <a:endParaRPr lang="en-US" dirty="0"/>
          </a:p>
          <a:p>
            <a:r>
              <a:rPr lang="en-US" dirty="0"/>
              <a:t>The second is the previous-item model, which uses only the last clicked hotel and recommends similar ones.</a:t>
            </a:r>
          </a:p>
          <a:p>
            <a:endParaRPr lang="en-US" dirty="0"/>
          </a:p>
          <a:p>
            <a:r>
              <a:rPr lang="en-US" dirty="0"/>
              <a:t>The third is the context-based model, which averages all previous hotel embeddings in the session.</a:t>
            </a:r>
          </a:p>
          <a:p>
            <a:endParaRPr lang="en-US" dirty="0"/>
          </a:p>
          <a:p>
            <a:r>
              <a:rPr lang="en-US" dirty="0"/>
              <a:t>For filtering, the popularity and context models exclude all previously seen hotels, while the previous-item model excludes only the reference hotel.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6" name="Google Shape;25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314" name="Google Shape;31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The notebook prepares the sessions, trains Word2Vec, exports embeddings, and evaluates the three recommendation strategies.</a:t>
            </a:r>
          </a:p>
          <a:p>
            <a:endParaRPr lang="en-US" dirty="0"/>
          </a:p>
          <a:p>
            <a:r>
              <a:rPr lang="en-US" dirty="0"/>
              <a:t>Hyperparameter tuning is done separately for each model using the validation set.</a:t>
            </a:r>
          </a:p>
          <a:p>
            <a:endParaRPr lang="en-US" dirty="0"/>
          </a:p>
          <a:p>
            <a:r>
              <a:rPr lang="en-US" dirty="0"/>
              <a:t>After tuning, each model is retrained and evaluated once on the test set.</a:t>
            </a:r>
          </a:p>
          <a:p>
            <a:endParaRPr lang="en-US" dirty="0"/>
          </a:p>
          <a:p>
            <a:r>
              <a:rPr lang="en-US" dirty="0"/>
              <a:t>The implementation also reports skipped sessions when embeddings are missing.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5" name="Google Shape;31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348" name="Google Shape;34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Performance is measured using Hits@10, which checks whether the true next hotel appears in the top 10 recommendations.</a:t>
            </a:r>
          </a:p>
          <a:p>
            <a:endParaRPr lang="en-US" dirty="0"/>
          </a:p>
          <a:p>
            <a:r>
              <a:rPr lang="en-US" dirty="0"/>
              <a:t>For each session, all but the last interaction are used as input, and the final interaction is the target.</a:t>
            </a:r>
          </a:p>
          <a:p>
            <a:endParaRPr lang="en-US" dirty="0"/>
          </a:p>
          <a:p>
            <a:r>
              <a:rPr lang="en-US" dirty="0"/>
              <a:t>Both models are tuned on the validation set, and final results are reported on the test set.</a:t>
            </a:r>
          </a:p>
          <a:p>
            <a:endParaRPr lang="en-US" dirty="0"/>
          </a:p>
          <a:p>
            <a:r>
              <a:rPr lang="en-US" dirty="0"/>
              <a:t>A limitation is that Hits@10 does not distinguish between rank 1 and rank 10.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9" name="Google Shape;34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392" name="Google Shape;39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The results show a clear improvement over the baseline.</a:t>
            </a:r>
          </a:p>
          <a:p>
            <a:endParaRPr lang="en-US" dirty="0"/>
          </a:p>
          <a:p>
            <a:r>
              <a:rPr lang="en-US" dirty="0"/>
              <a:t>The popularity model achieves 0.0035, while the previous-item model reaches 0.0592 and performs best.</a:t>
            </a:r>
          </a:p>
          <a:p>
            <a:endParaRPr lang="en-US" dirty="0"/>
          </a:p>
          <a:p>
            <a:r>
              <a:rPr lang="en-US" dirty="0"/>
              <a:t>The context-based model achieves 0.0405.</a:t>
            </a:r>
          </a:p>
          <a:p>
            <a:endParaRPr lang="en-US" dirty="0"/>
          </a:p>
          <a:p>
            <a:r>
              <a:rPr lang="en-US" dirty="0"/>
              <a:t>This shows that learned embeddings are effective, but the strongest signal comes from the most recent interaction.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3" name="Google Shape;39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427" name="Google Shape;42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The previous-item model performs best because the last interaction carries the strongest short-term intent.</a:t>
            </a:r>
          </a:p>
          <a:p>
            <a:endParaRPr lang="en-US" dirty="0"/>
          </a:p>
          <a:p>
            <a:r>
              <a:rPr lang="en-US" dirty="0"/>
              <a:t>The context-based model uses more information, but averaging can dilute the most relevant signal.</a:t>
            </a:r>
          </a:p>
          <a:p>
            <a:endParaRPr lang="en-US" dirty="0"/>
          </a:p>
          <a:p>
            <a:r>
              <a:rPr lang="en-US" dirty="0"/>
              <a:t>Overall performance remains low because the task is difficult: the item space is large, the data is sparse, and some sessions cannot be evaluated due to missing embeddings.</a:t>
            </a:r>
          </a:p>
        </p:txBody>
      </p:sp>
      <p:sp>
        <p:nvSpPr>
          <p:cNvPr id="428" name="Google Shape;42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447" name="Google Shape;44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There are several limitations.</a:t>
            </a:r>
          </a:p>
          <a:p>
            <a:endParaRPr lang="en-US" dirty="0"/>
          </a:p>
          <a:p>
            <a:r>
              <a:rPr lang="en-US" dirty="0"/>
              <a:t>The data is sparse, so embeddings are stronger for frequent hotels than for rare ones.</a:t>
            </a:r>
          </a:p>
          <a:p>
            <a:endParaRPr lang="en-US" dirty="0"/>
          </a:p>
          <a:p>
            <a:r>
              <a:rPr lang="en-US" dirty="0"/>
              <a:t>Word2Vec also cannot capture long-range dependencies beyond its context window.</a:t>
            </a:r>
          </a:p>
          <a:p>
            <a:endParaRPr lang="en-US" dirty="0"/>
          </a:p>
          <a:p>
            <a:r>
              <a:rPr lang="en-US" dirty="0"/>
              <a:t>For future work, I would include additional metrics such as </a:t>
            </a:r>
            <a:r>
              <a:rPr lang="en-US" dirty="0" err="1"/>
              <a:t>Recall@K</a:t>
            </a:r>
            <a:r>
              <a:rPr lang="en-US" dirty="0"/>
              <a:t>, MRR, and NDCG, incorporate side information like location and price, and compare with stronger sequence models such as GRUs or transformers.</a:t>
            </a:r>
          </a:p>
          <a:p>
            <a:endParaRPr lang="en-US" dirty="0"/>
          </a:p>
          <a:p>
            <a:r>
              <a:rPr lang="en-US" dirty="0"/>
              <a:t>Another extension would be real-time updates to adapt to changing user behavior.</a:t>
            </a:r>
          </a:p>
        </p:txBody>
      </p:sp>
      <p:sp>
        <p:nvSpPr>
          <p:cNvPr id="448" name="Google Shape;44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489" name="Google Shape;48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In conclusion, this project shows that Word2Vec can effectively model session-based recommendations.</a:t>
            </a:r>
          </a:p>
          <a:p>
            <a:endParaRPr lang="en-US" dirty="0"/>
          </a:p>
          <a:p>
            <a:r>
              <a:rPr lang="en-US" dirty="0"/>
              <a:t>The key result is that the previous-item model performs best, highlighting the importance of recent user behavior.</a:t>
            </a:r>
          </a:p>
          <a:p>
            <a:endParaRPr lang="en-US" dirty="0"/>
          </a:p>
          <a:p>
            <a:r>
              <a:rPr lang="en-US" dirty="0"/>
              <a:t>The main takeaway is that even simple models can be effective when they capture the right behavioral signal.</a:t>
            </a:r>
          </a:p>
          <a:p>
            <a:endParaRPr lang="en-US" dirty="0"/>
          </a:p>
          <a:p>
            <a:r>
              <a:rPr lang="en-US" dirty="0"/>
              <a:t>Thank you, and I’m happy to take any questions.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0" name="Google Shape;49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">
  <p:cSld name="MASTER">
    <p:bg>
      <p:bgPr>
        <a:solidFill>
          <a:srgbClr val="F6F8FC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4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7040880" y="0"/>
            <a:ext cx="5148072" cy="6858000"/>
          </a:xfrm>
          <a:prstGeom prst="rect">
            <a:avLst/>
          </a:prstGeom>
          <a:solidFill>
            <a:srgbClr val="14345A"/>
          </a:solidFill>
          <a:ln w="12700" cap="flat" cmpd="sng">
            <a:solidFill>
              <a:srgbClr val="143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7498080" y="502920"/>
            <a:ext cx="3840480" cy="384048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14345A">
              <a:alpha val="0"/>
            </a:srgbClr>
          </a:solidFill>
          <a:ln w="25400" cap="flat" cmpd="sng">
            <a:solidFill>
              <a:srgbClr val="2D5A89">
                <a:alpha val="8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/>
          <p:nvPr/>
        </p:nvSpPr>
        <p:spPr>
          <a:xfrm>
            <a:off x="8412480" y="1417320"/>
            <a:ext cx="3291840" cy="32918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14345A">
              <a:alpha val="0"/>
            </a:srgbClr>
          </a:solidFill>
          <a:ln w="20300" cap="flat" cmpd="sng">
            <a:solidFill>
              <a:srgbClr val="4A7CB2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8275320" y="1417320"/>
            <a:ext cx="164592" cy="164592"/>
          </a:xfrm>
          <a:prstGeom prst="ellipse">
            <a:avLst/>
          </a:prstGeom>
          <a:solidFill>
            <a:srgbClr val="2F6DB4"/>
          </a:solidFill>
          <a:ln w="12700" cap="flat" cmpd="sng">
            <a:solidFill>
              <a:srgbClr val="2F6D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9281160" y="960120"/>
            <a:ext cx="164592" cy="164592"/>
          </a:xfrm>
          <a:prstGeom prst="ellipse">
            <a:avLst/>
          </a:prstGeom>
          <a:solidFill>
            <a:srgbClr val="2F9FB5"/>
          </a:solidFill>
          <a:ln w="12700" cap="flat" cmpd="sng">
            <a:solidFill>
              <a:srgbClr val="2F9F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10469880" y="1325880"/>
            <a:ext cx="164592" cy="164592"/>
          </a:xfrm>
          <a:prstGeom prst="ellipse">
            <a:avLst/>
          </a:prstGeom>
          <a:solidFill>
            <a:srgbClr val="D9A441"/>
          </a:solidFill>
          <a:ln w="12700" cap="flat" cmpd="sng">
            <a:solidFill>
              <a:srgbClr val="D9A4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9829800" y="2286000"/>
            <a:ext cx="164592" cy="164592"/>
          </a:xfrm>
          <a:prstGeom prst="ellipse">
            <a:avLst/>
          </a:prstGeom>
          <a:solidFill>
            <a:srgbClr val="4F8F62"/>
          </a:solidFill>
          <a:ln w="12700" cap="flat" cmpd="sng">
            <a:solidFill>
              <a:srgbClr val="4F8F6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10972800" y="2468880"/>
            <a:ext cx="164592" cy="164592"/>
          </a:xfrm>
          <a:prstGeom prst="ellipse">
            <a:avLst/>
          </a:prstGeom>
          <a:solidFill>
            <a:srgbClr val="2F6DB4"/>
          </a:solidFill>
          <a:ln w="12700" cap="flat" cmpd="sng">
            <a:solidFill>
              <a:srgbClr val="2F6D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8092440" y="2743200"/>
            <a:ext cx="164592" cy="164592"/>
          </a:xfrm>
          <a:prstGeom prst="ellipse">
            <a:avLst/>
          </a:prstGeom>
          <a:solidFill>
            <a:srgbClr val="2F9FB5"/>
          </a:solidFill>
          <a:ln w="12700" cap="flat" cmpd="sng">
            <a:solidFill>
              <a:srgbClr val="2F9F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9052560" y="3246120"/>
            <a:ext cx="164592" cy="164592"/>
          </a:xfrm>
          <a:prstGeom prst="ellipse">
            <a:avLst/>
          </a:prstGeom>
          <a:solidFill>
            <a:srgbClr val="D9A441"/>
          </a:solidFill>
          <a:ln w="12700" cap="flat" cmpd="sng">
            <a:solidFill>
              <a:srgbClr val="D9A4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10241280" y="3200400"/>
            <a:ext cx="164592" cy="164592"/>
          </a:xfrm>
          <a:prstGeom prst="ellipse">
            <a:avLst/>
          </a:prstGeom>
          <a:solidFill>
            <a:srgbClr val="2F6DB4"/>
          </a:solidFill>
          <a:ln w="12700" cap="flat" cmpd="sng">
            <a:solidFill>
              <a:srgbClr val="2F6D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" name="Google Shape;28;p4"/>
          <p:cNvCxnSpPr/>
          <p:nvPr/>
        </p:nvCxnSpPr>
        <p:spPr>
          <a:xfrm rot="10800000" flipH="1">
            <a:off x="8357616" y="1042416"/>
            <a:ext cx="1005840" cy="457200"/>
          </a:xfrm>
          <a:prstGeom prst="straightConnector1">
            <a:avLst/>
          </a:prstGeom>
          <a:noFill/>
          <a:ln w="12700" cap="flat" cmpd="sng">
            <a:solidFill>
              <a:srgbClr val="6F8FB3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" name="Google Shape;29;p4"/>
          <p:cNvCxnSpPr/>
          <p:nvPr/>
        </p:nvCxnSpPr>
        <p:spPr>
          <a:xfrm>
            <a:off x="9363456" y="1042416"/>
            <a:ext cx="1188720" cy="365760"/>
          </a:xfrm>
          <a:prstGeom prst="straightConnector1">
            <a:avLst/>
          </a:prstGeom>
          <a:noFill/>
          <a:ln w="12700" cap="flat" cmpd="sng">
            <a:solidFill>
              <a:srgbClr val="6F8FB3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4"/>
          <p:cNvCxnSpPr/>
          <p:nvPr/>
        </p:nvCxnSpPr>
        <p:spPr>
          <a:xfrm>
            <a:off x="9363456" y="1042416"/>
            <a:ext cx="548640" cy="1325880"/>
          </a:xfrm>
          <a:prstGeom prst="straightConnector1">
            <a:avLst/>
          </a:prstGeom>
          <a:noFill/>
          <a:ln w="12700" cap="flat" cmpd="sng">
            <a:solidFill>
              <a:srgbClr val="6F8FB3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4"/>
          <p:cNvCxnSpPr/>
          <p:nvPr/>
        </p:nvCxnSpPr>
        <p:spPr>
          <a:xfrm>
            <a:off x="9912096" y="2368296"/>
            <a:ext cx="1143000" cy="182880"/>
          </a:xfrm>
          <a:prstGeom prst="straightConnector1">
            <a:avLst/>
          </a:prstGeom>
          <a:noFill/>
          <a:ln w="12700" cap="flat" cmpd="sng">
            <a:solidFill>
              <a:srgbClr val="6F8FB3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" name="Google Shape;32;p4"/>
          <p:cNvCxnSpPr/>
          <p:nvPr/>
        </p:nvCxnSpPr>
        <p:spPr>
          <a:xfrm flipH="1">
            <a:off x="8174736" y="1499616"/>
            <a:ext cx="182880" cy="1325880"/>
          </a:xfrm>
          <a:prstGeom prst="straightConnector1">
            <a:avLst/>
          </a:prstGeom>
          <a:noFill/>
          <a:ln w="12700" cap="flat" cmpd="sng">
            <a:solidFill>
              <a:srgbClr val="6F8FB3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" name="Google Shape;33;p4"/>
          <p:cNvCxnSpPr/>
          <p:nvPr/>
        </p:nvCxnSpPr>
        <p:spPr>
          <a:xfrm>
            <a:off x="8174736" y="2825496"/>
            <a:ext cx="960120" cy="502920"/>
          </a:xfrm>
          <a:prstGeom prst="straightConnector1">
            <a:avLst/>
          </a:prstGeom>
          <a:noFill/>
          <a:ln w="12700" cap="flat" cmpd="sng">
            <a:solidFill>
              <a:srgbClr val="6F8FB3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4"/>
          <p:cNvCxnSpPr/>
          <p:nvPr/>
        </p:nvCxnSpPr>
        <p:spPr>
          <a:xfrm rot="10800000" flipH="1">
            <a:off x="9134856" y="3282696"/>
            <a:ext cx="1188720" cy="45720"/>
          </a:xfrm>
          <a:prstGeom prst="straightConnector1">
            <a:avLst/>
          </a:prstGeom>
          <a:noFill/>
          <a:ln w="12700" cap="flat" cmpd="sng">
            <a:solidFill>
              <a:srgbClr val="6F8FB3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" name="Google Shape;35;p4"/>
          <p:cNvCxnSpPr/>
          <p:nvPr/>
        </p:nvCxnSpPr>
        <p:spPr>
          <a:xfrm flipH="1">
            <a:off x="9134856" y="2368296"/>
            <a:ext cx="777240" cy="960120"/>
          </a:xfrm>
          <a:prstGeom prst="straightConnector1">
            <a:avLst/>
          </a:prstGeom>
          <a:noFill/>
          <a:ln w="12700" cap="flat" cmpd="sng">
            <a:solidFill>
              <a:srgbClr val="6F8FB3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36;p4"/>
          <p:cNvCxnSpPr/>
          <p:nvPr/>
        </p:nvCxnSpPr>
        <p:spPr>
          <a:xfrm>
            <a:off x="10552176" y="1408176"/>
            <a:ext cx="502920" cy="1143000"/>
          </a:xfrm>
          <a:prstGeom prst="straightConnector1">
            <a:avLst/>
          </a:prstGeom>
          <a:noFill/>
          <a:ln w="12700" cap="flat" cmpd="sng">
            <a:solidFill>
              <a:srgbClr val="6F8FB3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4"/>
          <p:cNvCxnSpPr/>
          <p:nvPr/>
        </p:nvCxnSpPr>
        <p:spPr>
          <a:xfrm>
            <a:off x="8357616" y="1499616"/>
            <a:ext cx="777240" cy="1828800"/>
          </a:xfrm>
          <a:prstGeom prst="straightConnector1">
            <a:avLst/>
          </a:prstGeom>
          <a:noFill/>
          <a:ln w="12700" cap="flat" cmpd="sng">
            <a:solidFill>
              <a:srgbClr val="6F8FB3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" name="Google Shape;38;p4"/>
          <p:cNvSpPr/>
          <p:nvPr/>
        </p:nvSpPr>
        <p:spPr>
          <a:xfrm>
            <a:off x="777240" y="1005840"/>
            <a:ext cx="55778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Expedia Hotel</a:t>
            </a:r>
            <a:endParaRPr sz="2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 sz="2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86384" y="237744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7F5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DCE7F5"/>
                </a:solidFill>
                <a:latin typeface="Arial"/>
                <a:ea typeface="Arial"/>
                <a:cs typeface="Arial"/>
                <a:sym typeface="Arial"/>
              </a:rPr>
              <a:t>Session-based recommendation with Word2Vec embeddings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" name="Google Shape;40;p4"/>
          <p:cNvCxnSpPr/>
          <p:nvPr/>
        </p:nvCxnSpPr>
        <p:spPr>
          <a:xfrm>
            <a:off x="786384" y="2880360"/>
            <a:ext cx="3474720" cy="0"/>
          </a:xfrm>
          <a:prstGeom prst="straightConnector1">
            <a:avLst/>
          </a:prstGeom>
          <a:noFill/>
          <a:ln w="15225" cap="flat" cmpd="sng">
            <a:solidFill>
              <a:srgbClr val="84A8C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4"/>
          <p:cNvSpPr/>
          <p:nvPr/>
        </p:nvSpPr>
        <p:spPr>
          <a:xfrm>
            <a:off x="786384" y="3090672"/>
            <a:ext cx="320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Evros Vasileiou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Computer Science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University of Nicosia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Nicosia, Cyprus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vasileiou.e8@live.unic.ac.cy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589520" y="448056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193B65"/>
          </a:solidFill>
          <a:ln w="12700" cap="flat" cmpd="sng">
            <a:solidFill>
              <a:srgbClr val="2B588B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7845552" y="4700016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D0EA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B7D0EA"/>
                </a:solidFill>
                <a:latin typeface="Arial"/>
                <a:ea typeface="Arial"/>
                <a:cs typeface="Arial"/>
                <a:sym typeface="Arial"/>
              </a:rPr>
              <a:t>Best test result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818120" y="491947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lang="en-US" sz="23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Hits@10 = 0.0592</a:t>
            </a:r>
            <a:endParaRPr sz="2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7845552" y="5294376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E7F6"/>
              </a:buClr>
              <a:buSzPts val="1220"/>
              <a:buFont typeface="Arial"/>
              <a:buNone/>
            </a:pPr>
            <a:r>
              <a:rPr lang="en-US" sz="1220" b="0" i="0" u="none" strike="noStrike" cap="none">
                <a:solidFill>
                  <a:srgbClr val="D9E7F6"/>
                </a:solidFill>
                <a:latin typeface="Arial"/>
                <a:ea typeface="Arial"/>
                <a:cs typeface="Arial"/>
                <a:sym typeface="Arial"/>
              </a:rPr>
              <a:t>Previous-item model performed best</a:t>
            </a:r>
            <a:endParaRPr sz="12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7680960" y="6025896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D0EA"/>
              </a:buClr>
              <a:buSzPts val="1150"/>
              <a:buFont typeface="Arial"/>
              <a:buNone/>
            </a:pPr>
            <a:r>
              <a:rPr lang="en-US" sz="1150" b="0" i="1" u="none" strike="noStrike" cap="none" dirty="0">
                <a:solidFill>
                  <a:srgbClr val="B7D0EA"/>
                </a:solidFill>
                <a:latin typeface="Arial"/>
                <a:ea typeface="Arial"/>
                <a:cs typeface="Arial"/>
                <a:sym typeface="Arial"/>
              </a:rPr>
              <a:t>Hotel sessions -&gt; embeddings -&gt; next-hotel ranking</a:t>
            </a:r>
            <a:endParaRPr sz="11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548640" y="320040"/>
            <a:ext cx="8778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Problem and objective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0195560" y="356616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F6DB4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2F6DB4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" name="Google Shape;54;p5"/>
          <p:cNvCxnSpPr/>
          <p:nvPr/>
        </p:nvCxnSpPr>
        <p:spPr>
          <a:xfrm>
            <a:off x="548640" y="786384"/>
            <a:ext cx="11064240" cy="0"/>
          </a:xfrm>
          <a:prstGeom prst="straightConnector1">
            <a:avLst/>
          </a:prstGeom>
          <a:noFill/>
          <a:ln w="16500" cap="flat" cmpd="sng">
            <a:solidFill>
              <a:srgbClr val="BFD0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" name="Google Shape;55;p5"/>
          <p:cNvSpPr/>
          <p:nvPr/>
        </p:nvSpPr>
        <p:spPr>
          <a:xfrm>
            <a:off x="594360" y="1078991"/>
            <a:ext cx="5184648" cy="5148061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 cap="flat" cmpd="sng">
            <a:solidFill>
              <a:srgbClr val="D7E2EE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868680" y="132588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Why hotel recommendation is difficult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896112" y="1847088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50"/>
              <a:buFont typeface="Arial"/>
              <a:buNone/>
            </a:pPr>
            <a:r>
              <a:rPr lang="en-US" sz="1850" b="1" i="0" u="none" strike="noStrike" cap="none">
                <a:solidFill>
                  <a:srgbClr val="D9A44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097280" y="1856232"/>
            <a:ext cx="4142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550"/>
              <a:buFont typeface="Arial"/>
              <a:buNone/>
            </a:pPr>
            <a:r>
              <a:rPr lang="en-US" sz="155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Users browse many hotels within one session.</a:t>
            </a:r>
            <a:endParaRPr sz="15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896112" y="2414016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50"/>
              <a:buFont typeface="Arial"/>
              <a:buNone/>
            </a:pPr>
            <a:r>
              <a:rPr lang="en-US" sz="1850" b="1" i="0" u="none" strike="noStrike" cap="none">
                <a:solidFill>
                  <a:srgbClr val="D9A44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097280" y="2423160"/>
            <a:ext cx="4142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550"/>
              <a:buFont typeface="Arial"/>
              <a:buNone/>
            </a:pPr>
            <a:r>
              <a:rPr lang="en-US" sz="155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Intent can change quickly while browsing.</a:t>
            </a:r>
            <a:endParaRPr sz="15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896112" y="298094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50"/>
              <a:buFont typeface="Arial"/>
              <a:buNone/>
            </a:pPr>
            <a:r>
              <a:rPr lang="en-US" sz="1850" b="1" i="0" u="none" strike="noStrike" cap="none">
                <a:solidFill>
                  <a:srgbClr val="D9A44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1097280" y="2990088"/>
            <a:ext cx="4142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550"/>
              <a:buFont typeface="Arial"/>
              <a:buNone/>
            </a:pPr>
            <a:r>
              <a:rPr lang="en-US" sz="155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Popularity ignores order, and the item space is huge.</a:t>
            </a:r>
            <a:endParaRPr sz="15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841248" y="3931920"/>
            <a:ext cx="4526280" cy="1417320"/>
          </a:xfrm>
          <a:prstGeom prst="roundRect">
            <a:avLst>
              <a:gd name="adj" fmla="val 5161"/>
            </a:avLst>
          </a:prstGeom>
          <a:solidFill>
            <a:srgbClr val="F1F6FB"/>
          </a:solidFill>
          <a:ln w="12700" cap="flat" cmpd="sng">
            <a:solidFill>
              <a:srgbClr val="D6E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1051560" y="4206240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DB4"/>
              </a:buClr>
              <a:buSzPts val="1450"/>
              <a:buFont typeface="Arial"/>
              <a:buNone/>
            </a:pPr>
            <a:r>
              <a:rPr lang="en-US" sz="1450" b="1" i="0" u="none" strike="noStrike" cap="none">
                <a:solidFill>
                  <a:srgbClr val="2F6DB4"/>
                </a:solidFill>
                <a:latin typeface="Arial"/>
                <a:ea typeface="Arial"/>
                <a:cs typeface="Arial"/>
                <a:sym typeface="Arial"/>
              </a:rPr>
              <a:t>Project objective</a:t>
            </a:r>
            <a:endParaRPr sz="1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051560" y="4553712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Predict the next hotel from the clicks already observed in the same session.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971032" y="1078992"/>
            <a:ext cx="6095999" cy="5148072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 cap="flat" cmpd="sng">
            <a:solidFill>
              <a:srgbClr val="D7E2EE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6199632" y="132588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050"/>
              <a:buFont typeface="Arial"/>
              <a:buNone/>
            </a:pPr>
            <a:r>
              <a:rPr lang="en-US" sz="205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Session-based framing</a:t>
            </a:r>
            <a:endParaRPr sz="2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" name="Google Shape;68;p5"/>
          <p:cNvCxnSpPr/>
          <p:nvPr/>
        </p:nvCxnSpPr>
        <p:spPr>
          <a:xfrm>
            <a:off x="6812280" y="2926080"/>
            <a:ext cx="658368" cy="0"/>
          </a:xfrm>
          <a:prstGeom prst="straightConnector1">
            <a:avLst/>
          </a:prstGeom>
          <a:noFill/>
          <a:ln w="20300" cap="flat" cmpd="sng">
            <a:solidFill>
              <a:srgbClr val="7F99B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9" name="Google Shape;69;p5"/>
          <p:cNvCxnSpPr/>
          <p:nvPr/>
        </p:nvCxnSpPr>
        <p:spPr>
          <a:xfrm>
            <a:off x="7955280" y="2926080"/>
            <a:ext cx="658368" cy="0"/>
          </a:xfrm>
          <a:prstGeom prst="straightConnector1">
            <a:avLst/>
          </a:prstGeom>
          <a:noFill/>
          <a:ln w="20300" cap="flat" cmpd="sng">
            <a:solidFill>
              <a:srgbClr val="7F99B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0" name="Google Shape;70;p5"/>
          <p:cNvCxnSpPr/>
          <p:nvPr/>
        </p:nvCxnSpPr>
        <p:spPr>
          <a:xfrm>
            <a:off x="9098280" y="2926080"/>
            <a:ext cx="658368" cy="0"/>
          </a:xfrm>
          <a:prstGeom prst="straightConnector1">
            <a:avLst/>
          </a:prstGeom>
          <a:noFill/>
          <a:ln w="20300" cap="flat" cmpd="sng">
            <a:solidFill>
              <a:srgbClr val="7F99B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1" name="Google Shape;71;p5"/>
          <p:cNvCxnSpPr/>
          <p:nvPr/>
        </p:nvCxnSpPr>
        <p:spPr>
          <a:xfrm>
            <a:off x="10241280" y="2926080"/>
            <a:ext cx="0" cy="0"/>
          </a:xfrm>
          <a:prstGeom prst="straightConnector1">
            <a:avLst/>
          </a:prstGeom>
          <a:noFill/>
          <a:ln w="20300" cap="flat" cmpd="sng">
            <a:solidFill>
              <a:srgbClr val="7F99B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" name="Google Shape;72;p5"/>
          <p:cNvCxnSpPr/>
          <p:nvPr/>
        </p:nvCxnSpPr>
        <p:spPr>
          <a:xfrm>
            <a:off x="11173968" y="2926080"/>
            <a:ext cx="0" cy="0"/>
          </a:xfrm>
          <a:prstGeom prst="straightConnector1">
            <a:avLst/>
          </a:prstGeom>
          <a:noFill/>
          <a:ln w="20300" cap="flat" cmpd="sng">
            <a:solidFill>
              <a:srgbClr val="7F99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" name="Google Shape;73;p5"/>
          <p:cNvSpPr/>
          <p:nvPr/>
        </p:nvSpPr>
        <p:spPr>
          <a:xfrm>
            <a:off x="6355080" y="2523744"/>
            <a:ext cx="868680" cy="777240"/>
          </a:xfrm>
          <a:prstGeom prst="roundRect">
            <a:avLst>
              <a:gd name="adj" fmla="val 5882"/>
            </a:avLst>
          </a:prstGeom>
          <a:solidFill>
            <a:srgbClr val="2F6DB4"/>
          </a:solidFill>
          <a:ln w="12700" cap="flat" cmpd="sng">
            <a:solidFill>
              <a:srgbClr val="2F6D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355080" y="2770632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H12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7498080" y="2523744"/>
            <a:ext cx="868680" cy="777240"/>
          </a:xfrm>
          <a:prstGeom prst="roundRect">
            <a:avLst>
              <a:gd name="adj" fmla="val 5882"/>
            </a:avLst>
          </a:prstGeom>
          <a:solidFill>
            <a:srgbClr val="2F9FB5"/>
          </a:solidFill>
          <a:ln w="12700" cap="flat" cmpd="sng">
            <a:solidFill>
              <a:srgbClr val="2F9F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7498080" y="2770632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H77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8641080" y="2523744"/>
            <a:ext cx="868680" cy="777240"/>
          </a:xfrm>
          <a:prstGeom prst="roundRect">
            <a:avLst>
              <a:gd name="adj" fmla="val 5882"/>
            </a:avLst>
          </a:prstGeom>
          <a:solidFill>
            <a:srgbClr val="D9A441"/>
          </a:solidFill>
          <a:ln w="12700" cap="flat" cmpd="sng">
            <a:solidFill>
              <a:srgbClr val="D9A4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8641080" y="2770632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H11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9784080" y="2523744"/>
            <a:ext cx="868680" cy="777240"/>
          </a:xfrm>
          <a:prstGeom prst="roundRect">
            <a:avLst>
              <a:gd name="adj" fmla="val 5882"/>
            </a:avLst>
          </a:prstGeom>
          <a:solidFill>
            <a:srgbClr val="4F8F62"/>
          </a:solidFill>
          <a:ln w="12700" cap="flat" cmpd="sng">
            <a:solidFill>
              <a:srgbClr val="4F8F6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9784080" y="2770632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H309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0716768" y="2304288"/>
            <a:ext cx="1280160" cy="1170432"/>
          </a:xfrm>
          <a:prstGeom prst="roundRect">
            <a:avLst>
              <a:gd name="adj" fmla="val 3906"/>
            </a:avLst>
          </a:prstGeom>
          <a:solidFill>
            <a:srgbClr val="EEF4FB"/>
          </a:solidFill>
          <a:ln w="25400" cap="flat" cmpd="sng">
            <a:solidFill>
              <a:srgbClr val="2F6D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10789920" y="2679192"/>
            <a:ext cx="113385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Top-10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recs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364224" y="4041648"/>
            <a:ext cx="4407408" cy="420624"/>
          </a:xfrm>
          <a:prstGeom prst="roundRect">
            <a:avLst>
              <a:gd name="adj" fmla="val 17391"/>
            </a:avLst>
          </a:prstGeom>
          <a:solidFill>
            <a:srgbClr val="F7FAFD"/>
          </a:solidFill>
          <a:ln w="12700" cap="flat" cmpd="sng">
            <a:solidFill>
              <a:srgbClr val="D9E5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6537960" y="4169664"/>
            <a:ext cx="4041648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420"/>
              <a:buFont typeface="Arial"/>
              <a:buNone/>
            </a:pPr>
            <a:r>
              <a:rPr lang="en-US" sz="142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Input: ordered clicks already observed in the session</a:t>
            </a:r>
            <a:endParaRPr sz="14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364224" y="4526280"/>
            <a:ext cx="4407408" cy="512064"/>
          </a:xfrm>
          <a:prstGeom prst="roundRect">
            <a:avLst>
              <a:gd name="adj" fmla="val 14286"/>
            </a:avLst>
          </a:prstGeom>
          <a:solidFill>
            <a:srgbClr val="F7FAFD"/>
          </a:solidFill>
          <a:ln w="12700" cap="flat" cmpd="sng">
            <a:solidFill>
              <a:srgbClr val="D9E5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6537960" y="4681728"/>
            <a:ext cx="404164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420"/>
              <a:buFont typeface="Arial"/>
              <a:buNone/>
            </a:pPr>
            <a:r>
              <a:rPr lang="en-US" sz="142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Output: ranked candidate hotels for the next interaction</a:t>
            </a:r>
            <a:endParaRPr sz="14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364224" y="5230368"/>
            <a:ext cx="4535424" cy="658368"/>
          </a:xfrm>
          <a:prstGeom prst="roundRect">
            <a:avLst>
              <a:gd name="adj" fmla="val 11111"/>
            </a:avLst>
          </a:prstGeom>
          <a:solidFill>
            <a:srgbClr val="F9FBFD"/>
          </a:solidFill>
          <a:ln w="12700" cap="flat" cmpd="sng">
            <a:solidFill>
              <a:srgbClr val="D9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6510528" y="5440680"/>
            <a:ext cx="418795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6DB4"/>
              </a:buClr>
              <a:buSzPts val="1430"/>
              <a:buFont typeface="Arial"/>
              <a:buNone/>
            </a:pPr>
            <a:r>
              <a:rPr lang="en-US" sz="1430" b="1" i="0" u="none" strike="noStrike" cap="none">
                <a:solidFill>
                  <a:srgbClr val="2F6DB4"/>
                </a:solidFill>
                <a:latin typeface="Arial"/>
                <a:ea typeface="Arial"/>
                <a:cs typeface="Arial"/>
                <a:sym typeface="Arial"/>
              </a:rPr>
              <a:t>Hypothesis: sequential patterns carry more predictive signal than popularity alone.</a:t>
            </a:r>
            <a:endParaRPr sz="14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/>
          <p:nvPr/>
        </p:nvSpPr>
        <p:spPr>
          <a:xfrm>
            <a:off x="548640" y="320040"/>
            <a:ext cx="8778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Dataset and preprocessing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10195560" y="356616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F6DB4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2F6DB4"/>
                </a:solidFill>
                <a:latin typeface="Arial"/>
                <a:ea typeface="Arial"/>
                <a:cs typeface="Arial"/>
                <a:sym typeface="Arial"/>
              </a:rPr>
              <a:t>DATA PIPELINE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" name="Google Shape;96;p6"/>
          <p:cNvCxnSpPr/>
          <p:nvPr/>
        </p:nvCxnSpPr>
        <p:spPr>
          <a:xfrm>
            <a:off x="548640" y="786384"/>
            <a:ext cx="11064240" cy="0"/>
          </a:xfrm>
          <a:prstGeom prst="straightConnector1">
            <a:avLst/>
          </a:prstGeom>
          <a:noFill/>
          <a:ln w="16500" cap="flat" cmpd="sng">
            <a:solidFill>
              <a:srgbClr val="BFD0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7" name="Google Shape;97;p6"/>
          <p:cNvSpPr/>
          <p:nvPr/>
        </p:nvSpPr>
        <p:spPr>
          <a:xfrm>
            <a:off x="640080" y="1097280"/>
            <a:ext cx="2395728" cy="111556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2700" cap="flat" cmpd="sng">
            <a:solidFill>
              <a:srgbClr val="EEF4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804672" y="1197864"/>
            <a:ext cx="191109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click sequences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804672" y="1728216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50"/>
              <a:buFont typeface="Arial"/>
              <a:buNone/>
            </a:pPr>
            <a:r>
              <a:rPr lang="en-US" sz="950" b="0" i="0" u="none" strike="noStrike" cap="none" dirty="0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Raw input</a:t>
            </a:r>
            <a:endParaRPr sz="9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3063240" y="10972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7F2E7"/>
          </a:solidFill>
          <a:ln w="12700" cap="flat" cmpd="sng">
            <a:solidFill>
              <a:srgbClr val="F7F2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3227832" y="1197864"/>
            <a:ext cx="163677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5% sample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200400" y="150876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50"/>
              <a:buFont typeface="Arial"/>
              <a:buNone/>
            </a:pPr>
            <a:r>
              <a:rPr lang="en-US" sz="950" b="0" i="0" u="none" strike="noStrike" cap="none" dirty="0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Feasibility</a:t>
            </a:r>
            <a:endParaRPr sz="9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257800" y="109728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EDF6F0"/>
          </a:solidFill>
          <a:ln w="12700" cap="flat" cmpd="sng">
            <a:solidFill>
              <a:srgbClr val="EDF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5422392" y="1197864"/>
            <a:ext cx="172821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80 / 10 / 10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5394960" y="1508760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Experimental split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7543800" y="109728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7EEF0"/>
          </a:solidFill>
          <a:ln w="12700" cap="flat" cmpd="sng">
            <a:solidFill>
              <a:srgbClr val="F7EE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7708392" y="1197864"/>
            <a:ext cx="172821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length &gt;= 2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7680960" y="1508760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Minimum session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9829800" y="10972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2700" cap="flat" cmpd="sng">
            <a:solidFill>
              <a:srgbClr val="EEF4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9994392" y="1197864"/>
            <a:ext cx="136245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seed = 42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9966960" y="150876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Reproducibility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58367" y="2331720"/>
            <a:ext cx="11064239" cy="3739896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 cap="flat" cmpd="sng">
            <a:solidFill>
              <a:srgbClr val="D7E2EE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914400" y="3154680"/>
            <a:ext cx="1554480" cy="1005840"/>
          </a:xfrm>
          <a:prstGeom prst="roundRect">
            <a:avLst>
              <a:gd name="adj" fmla="val 4545"/>
            </a:avLst>
          </a:prstGeom>
          <a:solidFill>
            <a:srgbClr val="2F6DB4"/>
          </a:solidFill>
          <a:ln w="12700" cap="flat" cmpd="sng">
            <a:solidFill>
              <a:srgbClr val="2F6D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987552" y="3337560"/>
            <a:ext cx="140817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clicks column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987552" y="3639312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comma-separated hotel IDs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6"/>
          <p:cNvCxnSpPr/>
          <p:nvPr/>
        </p:nvCxnSpPr>
        <p:spPr>
          <a:xfrm>
            <a:off x="2487168" y="3657600"/>
            <a:ext cx="521208" cy="0"/>
          </a:xfrm>
          <a:prstGeom prst="straightConnector1">
            <a:avLst/>
          </a:prstGeom>
          <a:noFill/>
          <a:ln w="22850" cap="flat" cmpd="sng">
            <a:solidFill>
              <a:srgbClr val="7F99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7" name="Google Shape;117;p6"/>
          <p:cNvSpPr/>
          <p:nvPr/>
        </p:nvSpPr>
        <p:spPr>
          <a:xfrm>
            <a:off x="3063240" y="3154680"/>
            <a:ext cx="1554480" cy="1005840"/>
          </a:xfrm>
          <a:prstGeom prst="roundRect">
            <a:avLst>
              <a:gd name="adj" fmla="val 4545"/>
            </a:avLst>
          </a:prstGeom>
          <a:solidFill>
            <a:srgbClr val="2F9FB5"/>
          </a:solidFill>
          <a:ln w="12700" cap="flat" cmpd="sng">
            <a:solidFill>
              <a:srgbClr val="2F9F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3136392" y="3337560"/>
            <a:ext cx="140817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session list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3136392" y="3639312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ordered hotel sequence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" name="Google Shape;120;p6"/>
          <p:cNvCxnSpPr/>
          <p:nvPr/>
        </p:nvCxnSpPr>
        <p:spPr>
          <a:xfrm>
            <a:off x="4636008" y="3657600"/>
            <a:ext cx="521208" cy="0"/>
          </a:xfrm>
          <a:prstGeom prst="straightConnector1">
            <a:avLst/>
          </a:prstGeom>
          <a:noFill/>
          <a:ln w="22850" cap="flat" cmpd="sng">
            <a:solidFill>
              <a:srgbClr val="7F99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1" name="Google Shape;121;p6"/>
          <p:cNvSpPr/>
          <p:nvPr/>
        </p:nvSpPr>
        <p:spPr>
          <a:xfrm>
            <a:off x="5230368" y="3154680"/>
            <a:ext cx="1554480" cy="1005840"/>
          </a:xfrm>
          <a:prstGeom prst="roundRect">
            <a:avLst>
              <a:gd name="adj" fmla="val 4545"/>
            </a:avLst>
          </a:prstGeom>
          <a:solidFill>
            <a:srgbClr val="D9A441"/>
          </a:solidFill>
          <a:ln w="12700" cap="flat" cmpd="sng">
            <a:solidFill>
              <a:srgbClr val="D9A4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5303520" y="3337560"/>
            <a:ext cx="140817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filter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303520" y="3639312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remove sessions with &lt; 2 clicks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6"/>
          <p:cNvCxnSpPr/>
          <p:nvPr/>
        </p:nvCxnSpPr>
        <p:spPr>
          <a:xfrm>
            <a:off x="6803136" y="3657600"/>
            <a:ext cx="521208" cy="0"/>
          </a:xfrm>
          <a:prstGeom prst="straightConnector1">
            <a:avLst/>
          </a:prstGeom>
          <a:noFill/>
          <a:ln w="22850" cap="flat" cmpd="sng">
            <a:solidFill>
              <a:srgbClr val="7F99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5" name="Google Shape;125;p6"/>
          <p:cNvSpPr/>
          <p:nvPr/>
        </p:nvSpPr>
        <p:spPr>
          <a:xfrm>
            <a:off x="7406640" y="3154680"/>
            <a:ext cx="1554480" cy="1005840"/>
          </a:xfrm>
          <a:prstGeom prst="roundRect">
            <a:avLst>
              <a:gd name="adj" fmla="val 4545"/>
            </a:avLst>
          </a:prstGeom>
          <a:solidFill>
            <a:srgbClr val="4F8F62"/>
          </a:solidFill>
          <a:ln w="12700" cap="flat" cmpd="sng">
            <a:solidFill>
              <a:srgbClr val="4F8F6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7479792" y="3337560"/>
            <a:ext cx="140817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sample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7479792" y="3639312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random 5% subset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Google Shape;128;p6"/>
          <p:cNvCxnSpPr/>
          <p:nvPr/>
        </p:nvCxnSpPr>
        <p:spPr>
          <a:xfrm>
            <a:off x="8979408" y="3657600"/>
            <a:ext cx="521208" cy="0"/>
          </a:xfrm>
          <a:prstGeom prst="straightConnector1">
            <a:avLst/>
          </a:prstGeom>
          <a:noFill/>
          <a:ln w="22850" cap="flat" cmpd="sng">
            <a:solidFill>
              <a:srgbClr val="7F99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9" name="Google Shape;129;p6"/>
          <p:cNvSpPr/>
          <p:nvPr/>
        </p:nvSpPr>
        <p:spPr>
          <a:xfrm>
            <a:off x="9573768" y="3154680"/>
            <a:ext cx="1554480" cy="1005840"/>
          </a:xfrm>
          <a:prstGeom prst="roundRect">
            <a:avLst>
              <a:gd name="adj" fmla="val 4545"/>
            </a:avLst>
          </a:prstGeom>
          <a:solidFill>
            <a:srgbClr val="B7657F"/>
          </a:solidFill>
          <a:ln w="12700" cap="flat" cmpd="sng">
            <a:solidFill>
              <a:srgbClr val="B765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9646920" y="3337560"/>
            <a:ext cx="140817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split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9646920" y="3639312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train / validation / test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The code creates a session list, computes session_length, filters short sessions, samples 5% of the data, and then uses train_test_split twice to obtain train, validation, and test sets.</a:t>
            </a:r>
            <a:endParaRPr sz="1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161286" y="5239512"/>
            <a:ext cx="10058400" cy="548640"/>
          </a:xfrm>
          <a:prstGeom prst="roundRect">
            <a:avLst>
              <a:gd name="adj" fmla="val 19048"/>
            </a:avLst>
          </a:prstGeom>
          <a:solidFill>
            <a:srgbClr val="F8FBFE"/>
          </a:solidFill>
          <a:ln w="12700" cap="flat" cmpd="sng">
            <a:solidFill>
              <a:srgbClr val="E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1143000" y="5384086"/>
            <a:ext cx="9646920" cy="204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3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Reason for sampling: the original dataset is large and sparse, so a controlled subset makes training feasible while keeping the experiment reproducible.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548640" y="320040"/>
            <a:ext cx="8778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Exploratory findings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0195560" y="356616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F6DB4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2F6DB4"/>
                </a:solidFill>
                <a:latin typeface="Arial"/>
                <a:ea typeface="Arial"/>
                <a:cs typeface="Arial"/>
                <a:sym typeface="Arial"/>
              </a:rPr>
              <a:t>EDA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7"/>
          <p:cNvCxnSpPr/>
          <p:nvPr/>
        </p:nvCxnSpPr>
        <p:spPr>
          <a:xfrm>
            <a:off x="548640" y="786384"/>
            <a:ext cx="11064240" cy="0"/>
          </a:xfrm>
          <a:prstGeom prst="straightConnector1">
            <a:avLst/>
          </a:prstGeom>
          <a:noFill/>
          <a:ln w="16500" cap="flat" cmpd="sng">
            <a:solidFill>
              <a:srgbClr val="BFD0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" name="Google Shape;143;p7"/>
          <p:cNvSpPr/>
          <p:nvPr/>
        </p:nvSpPr>
        <p:spPr>
          <a:xfrm>
            <a:off x="594360" y="1124712"/>
            <a:ext cx="525780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 cap="flat" cmpd="sng">
            <a:solidFill>
              <a:srgbClr val="D7E2EE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" name="Google Shape;144;p7"/>
          <p:cNvSpPr/>
          <p:nvPr/>
        </p:nvSpPr>
        <p:spPr>
          <a:xfrm>
            <a:off x="6053328" y="1078992"/>
            <a:ext cx="548640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 cap="flat" cmpd="sng">
            <a:solidFill>
              <a:srgbClr val="D7E2EE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7"/>
          <p:cNvSpPr/>
          <p:nvPr/>
        </p:nvSpPr>
        <p:spPr>
          <a:xfrm>
            <a:off x="914400" y="1353312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Session lengths are highly skewed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184148" y="1841157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50"/>
              <a:buFont typeface="Arial"/>
              <a:buNone/>
            </a:pPr>
            <a:r>
              <a:rPr lang="en-US" sz="1050" b="0" i="1" u="none" strike="noStrike" cap="none" dirty="0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Observed pattern from the report and EDA code</a:t>
            </a:r>
            <a:endParaRPr sz="10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914400" y="4681728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Most sessions are short, with a smaller tail of longer browsing behavior.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969264" y="5253228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50"/>
              <a:buFont typeface="Arial"/>
              <a:buNone/>
            </a:pPr>
            <a:r>
              <a:rPr lang="en-US" sz="1850" b="1" i="0" u="none" strike="noStrike" cap="none" dirty="0">
                <a:solidFill>
                  <a:srgbClr val="D9A44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8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1152144" y="5394960"/>
            <a:ext cx="40965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550"/>
              <a:buFont typeface="Arial"/>
              <a:buNone/>
            </a:pPr>
            <a:r>
              <a:rPr lang="en-US" sz="1550" b="0" i="0" u="none" strike="noStrike" cap="none" dirty="0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Short sessions suggest local behavior matters most.</a:t>
            </a:r>
            <a:endParaRPr sz="15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969264" y="5728458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50"/>
              <a:buFont typeface="Arial"/>
              <a:buNone/>
            </a:pPr>
            <a:r>
              <a:rPr lang="en-US" sz="1850" b="1" i="0" u="none" strike="noStrike" cap="none" dirty="0">
                <a:solidFill>
                  <a:srgbClr val="D9A44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8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1120881" y="5852160"/>
            <a:ext cx="40965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550"/>
              <a:buFont typeface="Arial"/>
              <a:buNone/>
            </a:pPr>
            <a:r>
              <a:rPr lang="en-US" sz="1550" b="0" i="0" u="none" strike="noStrike" cap="none" dirty="0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Longer sessions exist, but they are much less common.</a:t>
            </a:r>
            <a:endParaRPr sz="15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355080" y="1353312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Hotel popularity follows a long tail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528816" y="1841157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050"/>
              <a:buFont typeface="Arial"/>
              <a:buNone/>
            </a:pPr>
            <a:r>
              <a:rPr lang="en-US" sz="1050" b="0" i="1" u="none" strike="noStrike" cap="none" dirty="0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Observed pattern from the report and EDA code</a:t>
            </a:r>
            <a:endParaRPr sz="10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355080" y="4617720"/>
            <a:ext cx="4526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A few hotels receive many clicks, while most hotels appear infrequently.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355080" y="516636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50"/>
              <a:buFont typeface="Arial"/>
              <a:buNone/>
            </a:pPr>
            <a:r>
              <a:rPr lang="en-US" sz="1850" b="1" i="0" u="none" strike="noStrike" cap="none">
                <a:solidFill>
                  <a:srgbClr val="D9A44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6556248" y="5312664"/>
            <a:ext cx="43708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550"/>
              <a:buFont typeface="Arial"/>
              <a:buNone/>
            </a:pPr>
            <a:r>
              <a:rPr lang="en-US" sz="1550" b="0" i="0" u="none" strike="noStrike" cap="none" dirty="0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This creates sparsity and weak coverage for rare items.</a:t>
            </a:r>
            <a:endParaRPr sz="15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364224" y="5641848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50"/>
              <a:buFont typeface="Arial"/>
              <a:buNone/>
            </a:pPr>
            <a:r>
              <a:rPr lang="en-US" sz="1850" b="1" i="0" u="none" strike="noStrike" cap="none" dirty="0">
                <a:solidFill>
                  <a:srgbClr val="D9A44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8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556248" y="5815584"/>
            <a:ext cx="43708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550"/>
              <a:buFont typeface="Arial"/>
              <a:buNone/>
            </a:pPr>
            <a:r>
              <a:rPr lang="en-US" sz="1550" b="0" i="0" u="none" strike="noStrike" cap="none" dirty="0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Embedding quality is better for frequently seen hotels.</a:t>
            </a:r>
            <a:endParaRPr sz="15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C4B3198-8DA2-9534-B7D6-C31058EE4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021" y="2023193"/>
            <a:ext cx="4474156" cy="257708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3794A69-51C7-6D66-CFB7-18790938E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593" y="2045674"/>
            <a:ext cx="4460973" cy="25961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/>
          <p:nvPr/>
        </p:nvSpPr>
        <p:spPr>
          <a:xfrm>
            <a:off x="548640" y="320040"/>
            <a:ext cx="8778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Methodology: Word2Vec for hotel sessions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10195560" y="356616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F6DB4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2F6DB4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p8"/>
          <p:cNvCxnSpPr/>
          <p:nvPr/>
        </p:nvCxnSpPr>
        <p:spPr>
          <a:xfrm>
            <a:off x="548640" y="786384"/>
            <a:ext cx="11064240" cy="0"/>
          </a:xfrm>
          <a:prstGeom prst="straightConnector1">
            <a:avLst/>
          </a:prstGeom>
          <a:noFill/>
          <a:ln w="16500" cap="flat" cmpd="sng">
            <a:solidFill>
              <a:srgbClr val="BFD0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6" name="Google Shape;186;p8"/>
          <p:cNvSpPr/>
          <p:nvPr/>
        </p:nvSpPr>
        <p:spPr>
          <a:xfrm>
            <a:off x="658368" y="1078991"/>
            <a:ext cx="6711696" cy="5458963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 cap="flat" cmpd="sng">
            <a:solidFill>
              <a:srgbClr val="D7E2EE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7434072" y="1078992"/>
            <a:ext cx="4133088" cy="5458968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 cap="flat" cmpd="sng">
            <a:solidFill>
              <a:srgbClr val="D7E2EE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914400" y="1234440"/>
            <a:ext cx="4389120" cy="374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Session as sentence, hotel as word</a:t>
            </a:r>
            <a:endParaRPr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914400" y="1700784"/>
            <a:ext cx="47548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700"/>
              <a:buFont typeface="Arial"/>
              <a:buNone/>
            </a:pPr>
            <a:r>
              <a:rPr lang="en-US" sz="1700" b="0" i="0" u="none" strike="noStrike" cap="none" dirty="0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Word2Vec learns dense vectors from co-occurrence inside sessions.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1143000" y="2331720"/>
            <a:ext cx="822960" cy="658368"/>
          </a:xfrm>
          <a:prstGeom prst="roundRect">
            <a:avLst>
              <a:gd name="adj" fmla="val 6944"/>
            </a:avLst>
          </a:prstGeom>
          <a:solidFill>
            <a:srgbClr val="2F6DB4"/>
          </a:solidFill>
          <a:ln w="12700" cap="flat" cmpd="sng">
            <a:solidFill>
              <a:srgbClr val="2F6D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1143000" y="2551176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H12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8"/>
          <p:cNvCxnSpPr/>
          <p:nvPr/>
        </p:nvCxnSpPr>
        <p:spPr>
          <a:xfrm>
            <a:off x="1984248" y="2660904"/>
            <a:ext cx="384048" cy="0"/>
          </a:xfrm>
          <a:prstGeom prst="straightConnector1">
            <a:avLst/>
          </a:prstGeom>
          <a:noFill/>
          <a:ln w="20300" cap="flat" cmpd="sng">
            <a:solidFill>
              <a:srgbClr val="7F99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3" name="Google Shape;193;p8"/>
          <p:cNvSpPr/>
          <p:nvPr/>
        </p:nvSpPr>
        <p:spPr>
          <a:xfrm>
            <a:off x="2148840" y="2331720"/>
            <a:ext cx="822960" cy="658368"/>
          </a:xfrm>
          <a:prstGeom prst="roundRect">
            <a:avLst>
              <a:gd name="adj" fmla="val 6944"/>
            </a:avLst>
          </a:prstGeom>
          <a:solidFill>
            <a:srgbClr val="2F9FB5"/>
          </a:solidFill>
          <a:ln w="12700" cap="flat" cmpd="sng">
            <a:solidFill>
              <a:srgbClr val="2F9F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2148840" y="2551176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H77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p8"/>
          <p:cNvCxnSpPr/>
          <p:nvPr/>
        </p:nvCxnSpPr>
        <p:spPr>
          <a:xfrm>
            <a:off x="2990088" y="2660904"/>
            <a:ext cx="384048" cy="0"/>
          </a:xfrm>
          <a:prstGeom prst="straightConnector1">
            <a:avLst/>
          </a:prstGeom>
          <a:noFill/>
          <a:ln w="20300" cap="flat" cmpd="sng">
            <a:solidFill>
              <a:srgbClr val="7F99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6" name="Google Shape;196;p8"/>
          <p:cNvSpPr/>
          <p:nvPr/>
        </p:nvSpPr>
        <p:spPr>
          <a:xfrm>
            <a:off x="3154680" y="2331720"/>
            <a:ext cx="822960" cy="658368"/>
          </a:xfrm>
          <a:prstGeom prst="roundRect">
            <a:avLst>
              <a:gd name="adj" fmla="val 6944"/>
            </a:avLst>
          </a:prstGeom>
          <a:solidFill>
            <a:srgbClr val="D9A441"/>
          </a:solidFill>
          <a:ln w="12700" cap="flat" cmpd="sng">
            <a:solidFill>
              <a:srgbClr val="D9A4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3154680" y="2551176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H11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8"/>
          <p:cNvCxnSpPr/>
          <p:nvPr/>
        </p:nvCxnSpPr>
        <p:spPr>
          <a:xfrm>
            <a:off x="3995928" y="2660904"/>
            <a:ext cx="384048" cy="0"/>
          </a:xfrm>
          <a:prstGeom prst="straightConnector1">
            <a:avLst/>
          </a:prstGeom>
          <a:noFill/>
          <a:ln w="20300" cap="flat" cmpd="sng">
            <a:solidFill>
              <a:srgbClr val="7F99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9" name="Google Shape;199;p8"/>
          <p:cNvSpPr/>
          <p:nvPr/>
        </p:nvSpPr>
        <p:spPr>
          <a:xfrm>
            <a:off x="4160520" y="2331720"/>
            <a:ext cx="822960" cy="658368"/>
          </a:xfrm>
          <a:prstGeom prst="roundRect">
            <a:avLst>
              <a:gd name="adj" fmla="val 6944"/>
            </a:avLst>
          </a:prstGeom>
          <a:solidFill>
            <a:srgbClr val="4F8F62"/>
          </a:solidFill>
          <a:ln w="12700" cap="flat" cmpd="sng">
            <a:solidFill>
              <a:srgbClr val="4F8F6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4160520" y="2551176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H309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1097280" y="3127248"/>
            <a:ext cx="1828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100"/>
              <a:buFont typeface="Arial"/>
              <a:buNone/>
            </a:pPr>
            <a:r>
              <a:rPr lang="en-US" sz="1100" b="0" i="1" u="none" strike="noStrike" cap="none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Example browsing session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3931920" y="4434840"/>
            <a:ext cx="292608" cy="292608"/>
          </a:xfrm>
          <a:prstGeom prst="ellipse">
            <a:avLst/>
          </a:prstGeom>
          <a:solidFill>
            <a:srgbClr val="2F6DB4"/>
          </a:solidFill>
          <a:ln w="12700" cap="flat" cmpd="sng">
            <a:solidFill>
              <a:srgbClr val="2F6D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5074920" y="3794760"/>
            <a:ext cx="292608" cy="292608"/>
          </a:xfrm>
          <a:prstGeom prst="ellipse">
            <a:avLst/>
          </a:prstGeom>
          <a:solidFill>
            <a:srgbClr val="2F6DB4"/>
          </a:solidFill>
          <a:ln w="12700" cap="flat" cmpd="sng">
            <a:solidFill>
              <a:srgbClr val="2F6D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4754880" y="4983480"/>
            <a:ext cx="292608" cy="292608"/>
          </a:xfrm>
          <a:prstGeom prst="ellipse">
            <a:avLst/>
          </a:prstGeom>
          <a:solidFill>
            <a:srgbClr val="2F9FB5"/>
          </a:solidFill>
          <a:ln w="12700" cap="flat" cmpd="sng">
            <a:solidFill>
              <a:srgbClr val="2F9F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5669280" y="4480560"/>
            <a:ext cx="292608" cy="292608"/>
          </a:xfrm>
          <a:prstGeom prst="ellipse">
            <a:avLst/>
          </a:prstGeom>
          <a:solidFill>
            <a:srgbClr val="2F9FB5"/>
          </a:solidFill>
          <a:ln w="12700" cap="flat" cmpd="sng">
            <a:solidFill>
              <a:srgbClr val="2F9F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5943600" y="3520440"/>
            <a:ext cx="292608" cy="292608"/>
          </a:xfrm>
          <a:prstGeom prst="ellipse">
            <a:avLst/>
          </a:prstGeom>
          <a:solidFill>
            <a:srgbClr val="D9A441"/>
          </a:solidFill>
          <a:ln w="12700" cap="flat" cmpd="sng">
            <a:solidFill>
              <a:srgbClr val="D9A4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4160520" y="3566160"/>
            <a:ext cx="292608" cy="292608"/>
          </a:xfrm>
          <a:prstGeom prst="ellipse">
            <a:avLst/>
          </a:prstGeom>
          <a:solidFill>
            <a:srgbClr val="D9A441"/>
          </a:solidFill>
          <a:ln w="12700" cap="flat" cmpd="sng">
            <a:solidFill>
              <a:srgbClr val="D9A4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6263640" y="5074920"/>
            <a:ext cx="292608" cy="292608"/>
          </a:xfrm>
          <a:prstGeom prst="ellipse">
            <a:avLst/>
          </a:prstGeom>
          <a:solidFill>
            <a:srgbClr val="4F8F62"/>
          </a:solidFill>
          <a:ln w="12700" cap="flat" cmpd="sng">
            <a:solidFill>
              <a:srgbClr val="4F8F6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3703320" y="5120640"/>
            <a:ext cx="292608" cy="292608"/>
          </a:xfrm>
          <a:prstGeom prst="ellipse">
            <a:avLst/>
          </a:prstGeom>
          <a:solidFill>
            <a:srgbClr val="4F8F62"/>
          </a:solidFill>
          <a:ln w="12700" cap="flat" cmpd="sng">
            <a:solidFill>
              <a:srgbClr val="4F8F6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0" name="Google Shape;210;p8"/>
          <p:cNvCxnSpPr/>
          <p:nvPr/>
        </p:nvCxnSpPr>
        <p:spPr>
          <a:xfrm rot="10800000" flipH="1">
            <a:off x="4078224" y="3941064"/>
            <a:ext cx="1143000" cy="640080"/>
          </a:xfrm>
          <a:prstGeom prst="straightConnector1">
            <a:avLst/>
          </a:prstGeom>
          <a:noFill/>
          <a:ln w="12700" cap="flat" cmpd="sng">
            <a:solidFill>
              <a:srgbClr val="B8C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1" name="Google Shape;211;p8"/>
          <p:cNvCxnSpPr/>
          <p:nvPr/>
        </p:nvCxnSpPr>
        <p:spPr>
          <a:xfrm>
            <a:off x="4078224" y="4581144"/>
            <a:ext cx="822960" cy="548640"/>
          </a:xfrm>
          <a:prstGeom prst="straightConnector1">
            <a:avLst/>
          </a:prstGeom>
          <a:noFill/>
          <a:ln w="12700" cap="flat" cmpd="sng">
            <a:solidFill>
              <a:srgbClr val="B8C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2" name="Google Shape;212;p8"/>
          <p:cNvCxnSpPr/>
          <p:nvPr/>
        </p:nvCxnSpPr>
        <p:spPr>
          <a:xfrm rot="10800000" flipH="1">
            <a:off x="4901184" y="4626864"/>
            <a:ext cx="914400" cy="502920"/>
          </a:xfrm>
          <a:prstGeom prst="straightConnector1">
            <a:avLst/>
          </a:prstGeom>
          <a:noFill/>
          <a:ln w="12700" cap="flat" cmpd="sng">
            <a:solidFill>
              <a:srgbClr val="B8C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3" name="Google Shape;213;p8"/>
          <p:cNvCxnSpPr/>
          <p:nvPr/>
        </p:nvCxnSpPr>
        <p:spPr>
          <a:xfrm rot="10800000" flipH="1">
            <a:off x="5221224" y="3666744"/>
            <a:ext cx="868680" cy="274320"/>
          </a:xfrm>
          <a:prstGeom prst="straightConnector1">
            <a:avLst/>
          </a:prstGeom>
          <a:noFill/>
          <a:ln w="12700" cap="flat" cmpd="sng">
            <a:solidFill>
              <a:srgbClr val="B8C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4" name="Google Shape;214;p8"/>
          <p:cNvCxnSpPr/>
          <p:nvPr/>
        </p:nvCxnSpPr>
        <p:spPr>
          <a:xfrm flipH="1">
            <a:off x="4306824" y="3666744"/>
            <a:ext cx="1783080" cy="45720"/>
          </a:xfrm>
          <a:prstGeom prst="straightConnector1">
            <a:avLst/>
          </a:prstGeom>
          <a:noFill/>
          <a:ln w="12700" cap="flat" cmpd="sng">
            <a:solidFill>
              <a:srgbClr val="B8C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5" name="Google Shape;215;p8"/>
          <p:cNvCxnSpPr/>
          <p:nvPr/>
        </p:nvCxnSpPr>
        <p:spPr>
          <a:xfrm>
            <a:off x="4901184" y="5129784"/>
            <a:ext cx="1508760" cy="91440"/>
          </a:xfrm>
          <a:prstGeom prst="straightConnector1">
            <a:avLst/>
          </a:prstGeom>
          <a:noFill/>
          <a:ln w="12700" cap="flat" cmpd="sng">
            <a:solidFill>
              <a:srgbClr val="B8C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6" name="Google Shape;216;p8"/>
          <p:cNvCxnSpPr/>
          <p:nvPr/>
        </p:nvCxnSpPr>
        <p:spPr>
          <a:xfrm flipH="1">
            <a:off x="3849624" y="4581144"/>
            <a:ext cx="228600" cy="685800"/>
          </a:xfrm>
          <a:prstGeom prst="straightConnector1">
            <a:avLst/>
          </a:prstGeom>
          <a:noFill/>
          <a:ln w="12700" cap="flat" cmpd="sng">
            <a:solidFill>
              <a:srgbClr val="B8C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7" name="Google Shape;217;p8"/>
          <p:cNvSpPr/>
          <p:nvPr/>
        </p:nvSpPr>
        <p:spPr>
          <a:xfrm>
            <a:off x="4206240" y="5468112"/>
            <a:ext cx="155448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100"/>
              <a:buFont typeface="Arial"/>
              <a:buNone/>
            </a:pPr>
            <a:r>
              <a:rPr lang="en-US" sz="1100" b="0" i="1" u="none" strike="noStrike" cap="none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Embedding space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914400" y="577900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Hotels used in similar contexts are placed close together.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914400" y="379476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79"/>
              <a:buFont typeface="Arial"/>
              <a:buNone/>
            </a:pPr>
            <a:r>
              <a:rPr lang="en-US" sz="1880" b="1" i="0" u="none" strike="noStrike" cap="none">
                <a:solidFill>
                  <a:srgbClr val="D9A44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8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1115568" y="3803904"/>
            <a:ext cx="25420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580"/>
              <a:buFont typeface="Arial"/>
              <a:buNone/>
            </a:pPr>
            <a:r>
              <a:rPr lang="en-US" sz="158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Skip-gram (sg = 1) with negative sampling</a:t>
            </a:r>
            <a:endParaRPr sz="15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914400" y="409651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79"/>
              <a:buFont typeface="Arial"/>
              <a:buNone/>
            </a:pPr>
            <a:r>
              <a:rPr lang="en-US" sz="1880" b="1" i="0" u="none" strike="noStrike" cap="none">
                <a:solidFill>
                  <a:srgbClr val="D9A44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8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1115568" y="4267777"/>
            <a:ext cx="25420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580"/>
              <a:buFont typeface="Arial"/>
              <a:buNone/>
            </a:pPr>
            <a:r>
              <a:rPr lang="en-US" sz="1580" b="0" i="0" u="none" strike="noStrike" cap="none" dirty="0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Similarity computed with dot product between vectors</a:t>
            </a:r>
            <a:endParaRPr sz="158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905256" y="4398264"/>
            <a:ext cx="17373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79"/>
              <a:buFont typeface="Arial"/>
              <a:buNone/>
            </a:pPr>
            <a:r>
              <a:rPr lang="en-US" sz="1880" b="1" i="0" u="none" strike="noStrike" cap="none" dirty="0">
                <a:solidFill>
                  <a:srgbClr val="D9A44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88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1115568" y="4727448"/>
            <a:ext cx="25420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580"/>
              <a:buFont typeface="Arial"/>
              <a:buNone/>
            </a:pPr>
            <a:r>
              <a:rPr lang="en-US" sz="158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No explicit user profiles or hotel metadata required</a:t>
            </a:r>
            <a:endParaRPr sz="15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7726680" y="137160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Best configuration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7726680" y="1828800"/>
            <a:ext cx="3520440" cy="384048"/>
          </a:xfrm>
          <a:prstGeom prst="roundRect">
            <a:avLst>
              <a:gd name="adj" fmla="val 9524"/>
            </a:avLst>
          </a:prstGeom>
          <a:solidFill>
            <a:srgbClr val="F7FAFD"/>
          </a:solidFill>
          <a:ln w="12700" cap="flat" cmpd="sng">
            <a:solidFill>
              <a:srgbClr val="D9E5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7909560" y="1938528"/>
            <a:ext cx="150876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vector_size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10378440" y="1901952"/>
            <a:ext cx="658368" cy="237744"/>
          </a:xfrm>
          <a:prstGeom prst="roundRect">
            <a:avLst>
              <a:gd name="adj" fmla="val 15385"/>
            </a:avLst>
          </a:prstGeom>
          <a:solidFill>
            <a:srgbClr val="2F6DB4"/>
          </a:solidFill>
          <a:ln w="12700" cap="flat" cmpd="sng">
            <a:solidFill>
              <a:srgbClr val="2F6D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10378440" y="1938528"/>
            <a:ext cx="658368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64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7726680" y="2359152"/>
            <a:ext cx="3520440" cy="384048"/>
          </a:xfrm>
          <a:prstGeom prst="roundRect">
            <a:avLst>
              <a:gd name="adj" fmla="val 9524"/>
            </a:avLst>
          </a:prstGeom>
          <a:solidFill>
            <a:srgbClr val="F7FAFD"/>
          </a:solidFill>
          <a:ln w="12700" cap="flat" cmpd="sng">
            <a:solidFill>
              <a:srgbClr val="D9E5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7909560" y="2468880"/>
            <a:ext cx="150876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10378440" y="2432304"/>
            <a:ext cx="658368" cy="237744"/>
          </a:xfrm>
          <a:prstGeom prst="roundRect">
            <a:avLst>
              <a:gd name="adj" fmla="val 15385"/>
            </a:avLst>
          </a:prstGeom>
          <a:solidFill>
            <a:srgbClr val="2F9FB5"/>
          </a:solidFill>
          <a:ln w="12700" cap="flat" cmpd="sng">
            <a:solidFill>
              <a:srgbClr val="2F9F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10378440" y="2468880"/>
            <a:ext cx="658368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7726680" y="2889504"/>
            <a:ext cx="3520440" cy="384048"/>
          </a:xfrm>
          <a:prstGeom prst="roundRect">
            <a:avLst>
              <a:gd name="adj" fmla="val 9524"/>
            </a:avLst>
          </a:prstGeom>
          <a:solidFill>
            <a:srgbClr val="F7FAFD"/>
          </a:solidFill>
          <a:ln w="12700" cap="flat" cmpd="sng">
            <a:solidFill>
              <a:srgbClr val="D9E5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7909560" y="2999232"/>
            <a:ext cx="150876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negative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10378440" y="2962656"/>
            <a:ext cx="658368" cy="237744"/>
          </a:xfrm>
          <a:prstGeom prst="roundRect">
            <a:avLst>
              <a:gd name="adj" fmla="val 15385"/>
            </a:avLst>
          </a:prstGeom>
          <a:solidFill>
            <a:srgbClr val="D9A441"/>
          </a:solidFill>
          <a:ln w="12700" cap="flat" cmpd="sng">
            <a:solidFill>
              <a:srgbClr val="D9A4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10378440" y="2999232"/>
            <a:ext cx="658368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7726680" y="3419856"/>
            <a:ext cx="3520440" cy="384048"/>
          </a:xfrm>
          <a:prstGeom prst="roundRect">
            <a:avLst>
              <a:gd name="adj" fmla="val 9524"/>
            </a:avLst>
          </a:prstGeom>
          <a:solidFill>
            <a:srgbClr val="F7FAFD"/>
          </a:solidFill>
          <a:ln w="12700" cap="flat" cmpd="sng">
            <a:solidFill>
              <a:srgbClr val="D9E5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7909560" y="3529584"/>
            <a:ext cx="150876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alpha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10378440" y="3493008"/>
            <a:ext cx="658368" cy="237744"/>
          </a:xfrm>
          <a:prstGeom prst="roundRect">
            <a:avLst>
              <a:gd name="adj" fmla="val 15385"/>
            </a:avLst>
          </a:prstGeom>
          <a:solidFill>
            <a:srgbClr val="4F8F62"/>
          </a:solidFill>
          <a:ln w="12700" cap="flat" cmpd="sng">
            <a:solidFill>
              <a:srgbClr val="4F8F6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10378440" y="3529584"/>
            <a:ext cx="658368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0.01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7726680" y="3950208"/>
            <a:ext cx="3520440" cy="384048"/>
          </a:xfrm>
          <a:prstGeom prst="roundRect">
            <a:avLst>
              <a:gd name="adj" fmla="val 9524"/>
            </a:avLst>
          </a:prstGeom>
          <a:solidFill>
            <a:srgbClr val="F7FAFD"/>
          </a:solidFill>
          <a:ln w="12700" cap="flat" cmpd="sng">
            <a:solidFill>
              <a:srgbClr val="D9E5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7909560" y="4059936"/>
            <a:ext cx="150876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min_count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10378440" y="4023360"/>
            <a:ext cx="658368" cy="237744"/>
          </a:xfrm>
          <a:prstGeom prst="roundRect">
            <a:avLst>
              <a:gd name="adj" fmla="val 15385"/>
            </a:avLst>
          </a:prstGeom>
          <a:solidFill>
            <a:srgbClr val="B7657F"/>
          </a:solidFill>
          <a:ln w="12700" cap="flat" cmpd="sng">
            <a:solidFill>
              <a:srgbClr val="B765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10378440" y="4059936"/>
            <a:ext cx="658368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7726680" y="4480560"/>
            <a:ext cx="3520440" cy="384048"/>
          </a:xfrm>
          <a:prstGeom prst="roundRect">
            <a:avLst>
              <a:gd name="adj" fmla="val 9524"/>
            </a:avLst>
          </a:prstGeom>
          <a:solidFill>
            <a:srgbClr val="F7FAFD"/>
          </a:solidFill>
          <a:ln w="12700" cap="flat" cmpd="sng">
            <a:solidFill>
              <a:srgbClr val="D9E5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7909560" y="4590288"/>
            <a:ext cx="150876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epochs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10378440" y="4553712"/>
            <a:ext cx="658368" cy="237744"/>
          </a:xfrm>
          <a:prstGeom prst="roundRect">
            <a:avLst>
              <a:gd name="adj" fmla="val 15385"/>
            </a:avLst>
          </a:prstGeom>
          <a:solidFill>
            <a:srgbClr val="7A5BC1"/>
          </a:solidFill>
          <a:ln w="12700" cap="flat" cmpd="sng">
            <a:solidFill>
              <a:srgbClr val="7A5B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10378440" y="4590288"/>
            <a:ext cx="658368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7690104" y="5120640"/>
            <a:ext cx="3587496" cy="1280160"/>
          </a:xfrm>
          <a:prstGeom prst="roundRect">
            <a:avLst>
              <a:gd name="adj" fmla="val 9756"/>
            </a:avLst>
          </a:prstGeom>
          <a:solidFill>
            <a:srgbClr val="F1F6FB"/>
          </a:solidFill>
          <a:ln w="12700" cap="flat" cmpd="sng">
            <a:solidFill>
              <a:srgbClr val="D9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7909560" y="5404104"/>
            <a:ext cx="10972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DB4"/>
              </a:buClr>
              <a:buSzPts val="1300"/>
              <a:buFont typeface="Arial"/>
              <a:buNone/>
            </a:pPr>
            <a:r>
              <a:rPr lang="en-US" sz="1300" b="1" i="0" u="none" strike="noStrike" cap="none" dirty="0">
                <a:solidFill>
                  <a:srgbClr val="2F6DB4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7909560" y="5841286"/>
            <a:ext cx="312724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80"/>
              <a:buFont typeface="Arial"/>
              <a:buNone/>
            </a:pPr>
            <a:r>
              <a:rPr lang="en-US" sz="1280" b="0" i="0" u="none" strike="noStrike" cap="none" dirty="0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A moderate window worked best, which suggests local browsing context is more useful than long-range context in this dataset.</a:t>
            </a:r>
            <a:endParaRPr sz="128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"/>
          <p:cNvSpPr/>
          <p:nvPr/>
        </p:nvSpPr>
        <p:spPr>
          <a:xfrm>
            <a:off x="548640" y="320040"/>
            <a:ext cx="8778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Three recommendation strategies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10195560" y="356616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F6DB4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2F6DB4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Google Shape;260;p9"/>
          <p:cNvCxnSpPr/>
          <p:nvPr/>
        </p:nvCxnSpPr>
        <p:spPr>
          <a:xfrm>
            <a:off x="548640" y="786384"/>
            <a:ext cx="11064240" cy="0"/>
          </a:xfrm>
          <a:prstGeom prst="straightConnector1">
            <a:avLst/>
          </a:prstGeom>
          <a:noFill/>
          <a:ln w="16500" cap="flat" cmpd="sng">
            <a:solidFill>
              <a:srgbClr val="BFD0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1" name="Google Shape;261;p9"/>
          <p:cNvSpPr/>
          <p:nvPr/>
        </p:nvSpPr>
        <p:spPr>
          <a:xfrm>
            <a:off x="658368" y="1234440"/>
            <a:ext cx="2834640" cy="5394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 cap="flat" cmpd="sng">
            <a:solidFill>
              <a:srgbClr val="D7E2EE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658368" y="1234440"/>
            <a:ext cx="2834640" cy="530352"/>
          </a:xfrm>
          <a:prstGeom prst="rect">
            <a:avLst/>
          </a:prstGeom>
          <a:solidFill>
            <a:srgbClr val="D9A441"/>
          </a:solidFill>
          <a:ln w="12700" cap="flat" cmpd="sng">
            <a:solidFill>
              <a:srgbClr val="D9A4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768096" y="1399032"/>
            <a:ext cx="2615184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Popularity baseline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859536" y="1938528"/>
            <a:ext cx="2432304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550"/>
              <a:buFont typeface="Arial"/>
              <a:buNone/>
            </a:pPr>
            <a:r>
              <a:rPr lang="en-US" sz="155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Rank hotels by frequency in training data</a:t>
            </a:r>
            <a:endParaRPr sz="15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1188720" y="2697480"/>
            <a:ext cx="1783080" cy="347472"/>
          </a:xfrm>
          <a:prstGeom prst="roundRect">
            <a:avLst>
              <a:gd name="adj" fmla="val 7895"/>
            </a:avLst>
          </a:prstGeom>
          <a:solidFill>
            <a:srgbClr val="F8E7BC"/>
          </a:solidFill>
          <a:ln w="12700" cap="flat" cmpd="sng">
            <a:solidFill>
              <a:srgbClr val="D9A4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1188720" y="2807208"/>
            <a:ext cx="17830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#1 hotel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1188720" y="3227832"/>
            <a:ext cx="1783080" cy="347472"/>
          </a:xfrm>
          <a:prstGeom prst="roundRect">
            <a:avLst>
              <a:gd name="adj" fmla="val 7895"/>
            </a:avLst>
          </a:prstGeom>
          <a:solidFill>
            <a:srgbClr val="F8F1DA"/>
          </a:solidFill>
          <a:ln w="12700" cap="flat" cmpd="sng">
            <a:solidFill>
              <a:srgbClr val="E2D4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1188720" y="3337560"/>
            <a:ext cx="17830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#2 hotel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1188720" y="3758184"/>
            <a:ext cx="1783080" cy="347472"/>
          </a:xfrm>
          <a:prstGeom prst="roundRect">
            <a:avLst>
              <a:gd name="adj" fmla="val 7895"/>
            </a:avLst>
          </a:prstGeom>
          <a:solidFill>
            <a:srgbClr val="F8F1DA"/>
          </a:solidFill>
          <a:ln w="12700" cap="flat" cmpd="sng">
            <a:solidFill>
              <a:srgbClr val="E2D4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1188720" y="3867912"/>
            <a:ext cx="17830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#3 hotel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841248" y="4370832"/>
            <a:ext cx="9144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Arial"/>
                <a:ea typeface="Arial"/>
                <a:cs typeface="Arial"/>
                <a:sym typeface="Arial"/>
              </a:rPr>
              <a:t>Strengths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841248" y="4572000"/>
            <a:ext cx="243230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420"/>
              <a:buFont typeface="Arial"/>
              <a:buNone/>
            </a:pPr>
            <a:r>
              <a:rPr lang="en-US" sz="142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Simple reference point</a:t>
            </a:r>
            <a:endParaRPr sz="14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420"/>
              <a:buFont typeface="Arial"/>
              <a:buNone/>
            </a:pPr>
            <a:r>
              <a:rPr lang="en-US" sz="142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No learned representation</a:t>
            </a:r>
            <a:endParaRPr sz="14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841248" y="5230368"/>
            <a:ext cx="10972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D9A441"/>
                </a:solidFill>
                <a:latin typeface="Arial"/>
                <a:ea typeface="Arial"/>
                <a:cs typeface="Arial"/>
                <a:sym typeface="Arial"/>
              </a:rPr>
              <a:t>Main limitation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841248" y="5600700"/>
            <a:ext cx="243230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360"/>
              <a:buFont typeface="Arial"/>
              <a:buNone/>
            </a:pPr>
            <a:r>
              <a:rPr lang="en-US" sz="1360" b="0" i="0" u="none" strike="noStrike" cap="none" dirty="0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Ignores sequence and user state</a:t>
            </a:r>
            <a:endParaRPr sz="136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4032504" y="1234440"/>
            <a:ext cx="2834640" cy="5394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 cap="flat" cmpd="sng">
            <a:solidFill>
              <a:srgbClr val="D7E2EE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4032504" y="1234440"/>
            <a:ext cx="2834640" cy="530352"/>
          </a:xfrm>
          <a:prstGeom prst="rect">
            <a:avLst/>
          </a:prstGeom>
          <a:solidFill>
            <a:srgbClr val="2F6DB4"/>
          </a:solidFill>
          <a:ln w="12700" cap="flat" cmpd="sng">
            <a:solidFill>
              <a:srgbClr val="2F6D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4142232" y="1399032"/>
            <a:ext cx="2615184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Previous-item model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4233672" y="1938528"/>
            <a:ext cx="2432304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550"/>
              <a:buFont typeface="Arial"/>
              <a:buNone/>
            </a:pPr>
            <a:r>
              <a:rPr lang="en-US" sz="155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Use the last clicked hotel as the query vector</a:t>
            </a:r>
            <a:endParaRPr sz="15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4361688" y="2880360"/>
            <a:ext cx="530352" cy="411480"/>
          </a:xfrm>
          <a:prstGeom prst="roundRect">
            <a:avLst>
              <a:gd name="adj" fmla="val 6667"/>
            </a:avLst>
          </a:prstGeom>
          <a:solidFill>
            <a:srgbClr val="DDE9F7"/>
          </a:solidFill>
          <a:ln w="12700" cap="flat" cmpd="sng">
            <a:solidFill>
              <a:srgbClr val="DDE9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4361688" y="3008376"/>
            <a:ext cx="530352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H12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5020056" y="2880360"/>
            <a:ext cx="530352" cy="411480"/>
          </a:xfrm>
          <a:prstGeom prst="roundRect">
            <a:avLst>
              <a:gd name="adj" fmla="val 6667"/>
            </a:avLst>
          </a:prstGeom>
          <a:solidFill>
            <a:srgbClr val="DDE9F7"/>
          </a:solidFill>
          <a:ln w="12700" cap="flat" cmpd="sng">
            <a:solidFill>
              <a:srgbClr val="DDE9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5020056" y="3008376"/>
            <a:ext cx="530352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H77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5678424" y="2880360"/>
            <a:ext cx="530352" cy="411480"/>
          </a:xfrm>
          <a:prstGeom prst="roundRect">
            <a:avLst>
              <a:gd name="adj" fmla="val 6667"/>
            </a:avLst>
          </a:prstGeom>
          <a:solidFill>
            <a:srgbClr val="2F6DB4"/>
          </a:solidFill>
          <a:ln w="12700" cap="flat" cmpd="sng">
            <a:solidFill>
              <a:srgbClr val="2F6D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5678424" y="3008376"/>
            <a:ext cx="530352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H11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5" name="Google Shape;285;p9"/>
          <p:cNvCxnSpPr/>
          <p:nvPr/>
        </p:nvCxnSpPr>
        <p:spPr>
          <a:xfrm>
            <a:off x="5907024" y="3081528"/>
            <a:ext cx="384048" cy="0"/>
          </a:xfrm>
          <a:prstGeom prst="straightConnector1">
            <a:avLst/>
          </a:prstGeom>
          <a:noFill/>
          <a:ln w="19050" cap="flat" cmpd="sng">
            <a:solidFill>
              <a:srgbClr val="7F99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6" name="Google Shape;286;p9"/>
          <p:cNvSpPr/>
          <p:nvPr/>
        </p:nvSpPr>
        <p:spPr>
          <a:xfrm>
            <a:off x="6364224" y="2770632"/>
            <a:ext cx="329184" cy="256032"/>
          </a:xfrm>
          <a:prstGeom prst="roundRect">
            <a:avLst>
              <a:gd name="adj" fmla="val 10714"/>
            </a:avLst>
          </a:prstGeom>
          <a:solidFill>
            <a:srgbClr val="D9E8FA"/>
          </a:solidFill>
          <a:ln w="12700" cap="flat" cmpd="sng">
            <a:solidFill>
              <a:srgbClr val="2F6D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6245352" y="3081528"/>
            <a:ext cx="548640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rec1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6364224" y="3246120"/>
            <a:ext cx="329184" cy="256032"/>
          </a:xfrm>
          <a:prstGeom prst="roundRect">
            <a:avLst>
              <a:gd name="adj" fmla="val 10714"/>
            </a:avLst>
          </a:prstGeom>
          <a:solidFill>
            <a:srgbClr val="EDF4FC"/>
          </a:solidFill>
          <a:ln w="12700" cap="flat" cmpd="sng">
            <a:solidFill>
              <a:srgbClr val="D9E8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6245352" y="3557016"/>
            <a:ext cx="548640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rec2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4215384" y="4370832"/>
            <a:ext cx="9144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DB4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F6DB4"/>
                </a:solidFill>
                <a:latin typeface="Arial"/>
                <a:ea typeface="Arial"/>
                <a:cs typeface="Arial"/>
                <a:sym typeface="Arial"/>
              </a:rPr>
              <a:t>Strengths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4233672" y="4675797"/>
            <a:ext cx="243230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420"/>
              <a:buFont typeface="Arial"/>
              <a:buNone/>
            </a:pPr>
            <a:r>
              <a:rPr lang="en-US" sz="1420" b="0" i="0" u="none" strike="noStrike" cap="none" dirty="0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Captures the strongest local signal</a:t>
            </a:r>
            <a:endParaRPr sz="14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420"/>
              <a:buFont typeface="Arial"/>
              <a:buNone/>
            </a:pPr>
            <a:r>
              <a:rPr lang="en-US" sz="1420" b="0" i="0" u="none" strike="noStrike" cap="none" dirty="0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Best test performance</a:t>
            </a:r>
            <a:endParaRPr sz="14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4233672" y="5398173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DB4"/>
              </a:buClr>
              <a:buSzPts val="1300"/>
              <a:buFont typeface="Arial"/>
              <a:buNone/>
            </a:pPr>
            <a:r>
              <a:rPr lang="en-US" sz="1300" b="1" i="0" u="none" strike="noStrike" cap="none" dirty="0">
                <a:solidFill>
                  <a:srgbClr val="2F6DB4"/>
                </a:solidFill>
                <a:latin typeface="Arial"/>
                <a:ea typeface="Arial"/>
                <a:cs typeface="Arial"/>
                <a:sym typeface="Arial"/>
              </a:rPr>
              <a:t>Main limitation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4215384" y="5718213"/>
            <a:ext cx="243230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360"/>
              <a:buFont typeface="Arial"/>
              <a:buNone/>
            </a:pPr>
            <a:r>
              <a:rPr lang="en-US" sz="1360" b="0" i="0" u="none" strike="noStrike" cap="none" dirty="0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Uses only one interaction</a:t>
            </a:r>
            <a:endParaRPr sz="136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7406640" y="1234440"/>
            <a:ext cx="2834640" cy="5394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 cap="flat" cmpd="sng">
            <a:solidFill>
              <a:srgbClr val="D7E2EE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7406640" y="1234440"/>
            <a:ext cx="2834640" cy="530352"/>
          </a:xfrm>
          <a:prstGeom prst="rect">
            <a:avLst/>
          </a:prstGeom>
          <a:solidFill>
            <a:srgbClr val="2F9FB5"/>
          </a:solidFill>
          <a:ln w="12700" cap="flat" cmpd="sng">
            <a:solidFill>
              <a:srgbClr val="2F9F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7516368" y="1399032"/>
            <a:ext cx="2615184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Context-based model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7607808" y="1938528"/>
            <a:ext cx="2432304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550"/>
              <a:buFont typeface="Arial"/>
              <a:buNone/>
            </a:pPr>
            <a:r>
              <a:rPr lang="en-US" sz="155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Average all previous hotel vectors in the session</a:t>
            </a:r>
            <a:endParaRPr sz="15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7680960" y="2880360"/>
            <a:ext cx="530352" cy="411480"/>
          </a:xfrm>
          <a:prstGeom prst="roundRect">
            <a:avLst>
              <a:gd name="adj" fmla="val 6667"/>
            </a:avLst>
          </a:prstGeom>
          <a:solidFill>
            <a:srgbClr val="DDF0F3"/>
          </a:solidFill>
          <a:ln w="12700" cap="flat" cmpd="sng">
            <a:solidFill>
              <a:srgbClr val="DDF0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7680960" y="3008376"/>
            <a:ext cx="530352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H12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8339328" y="2880360"/>
            <a:ext cx="530352" cy="411480"/>
          </a:xfrm>
          <a:prstGeom prst="roundRect">
            <a:avLst>
              <a:gd name="adj" fmla="val 6667"/>
            </a:avLst>
          </a:prstGeom>
          <a:solidFill>
            <a:srgbClr val="DDF0F3"/>
          </a:solidFill>
          <a:ln w="12700" cap="flat" cmpd="sng">
            <a:solidFill>
              <a:srgbClr val="DDF0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8339328" y="3008376"/>
            <a:ext cx="530352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H77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8997696" y="2880360"/>
            <a:ext cx="530352" cy="411480"/>
          </a:xfrm>
          <a:prstGeom prst="roundRect">
            <a:avLst>
              <a:gd name="adj" fmla="val 6667"/>
            </a:avLst>
          </a:prstGeom>
          <a:solidFill>
            <a:srgbClr val="DDF0F3"/>
          </a:solidFill>
          <a:ln w="12700" cap="flat" cmpd="sng">
            <a:solidFill>
              <a:srgbClr val="DDF0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8997696" y="3008376"/>
            <a:ext cx="530352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H11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8302752" y="3474720"/>
            <a:ext cx="9144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average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" name="Google Shape;305;p9"/>
          <p:cNvCxnSpPr/>
          <p:nvPr/>
        </p:nvCxnSpPr>
        <p:spPr>
          <a:xfrm>
            <a:off x="8732520" y="3310128"/>
            <a:ext cx="0" cy="210312"/>
          </a:xfrm>
          <a:prstGeom prst="straightConnector1">
            <a:avLst/>
          </a:prstGeom>
          <a:noFill/>
          <a:ln w="15225" cap="flat" cmpd="sng">
            <a:solidFill>
              <a:srgbClr val="7F99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6" name="Google Shape;306;p9"/>
          <p:cNvSpPr/>
          <p:nvPr/>
        </p:nvSpPr>
        <p:spPr>
          <a:xfrm>
            <a:off x="8485632" y="3730752"/>
            <a:ext cx="493776" cy="310896"/>
          </a:xfrm>
          <a:prstGeom prst="roundRect">
            <a:avLst>
              <a:gd name="adj" fmla="val 8824"/>
            </a:avLst>
          </a:prstGeom>
          <a:solidFill>
            <a:srgbClr val="2F9FB5"/>
          </a:solidFill>
          <a:ln w="12700" cap="flat" cmpd="sng">
            <a:solidFill>
              <a:srgbClr val="2F9F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8485632" y="3822192"/>
            <a:ext cx="493776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7589520" y="4370832"/>
            <a:ext cx="9144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9FB5"/>
              </a:buClr>
              <a:buSzPts val="1300"/>
              <a:buFont typeface="Arial"/>
              <a:buNone/>
            </a:pPr>
            <a:r>
              <a:rPr lang="en-US" sz="1300" b="1" i="0" u="none" strike="noStrike" cap="none" dirty="0">
                <a:solidFill>
                  <a:srgbClr val="2F9FB5"/>
                </a:solidFill>
                <a:latin typeface="Arial"/>
                <a:ea typeface="Arial"/>
                <a:cs typeface="Arial"/>
                <a:sym typeface="Arial"/>
              </a:rPr>
              <a:t>Strengths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7589520" y="4698780"/>
            <a:ext cx="243230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420"/>
              <a:buFont typeface="Arial"/>
              <a:buNone/>
            </a:pPr>
            <a:r>
              <a:rPr lang="en-US" sz="1420" b="0" i="0" u="none" strike="noStrike" cap="none" dirty="0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Uses more session information</a:t>
            </a:r>
            <a:endParaRPr sz="14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420"/>
              <a:buFont typeface="Arial"/>
              <a:buNone/>
            </a:pPr>
            <a:r>
              <a:rPr lang="en-US" sz="1420" b="0" i="0" u="none" strike="noStrike" cap="none" dirty="0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Still beats the baseline</a:t>
            </a:r>
            <a:endParaRPr sz="14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7589520" y="5507901"/>
            <a:ext cx="10972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9FB5"/>
              </a:buClr>
              <a:buSzPts val="1300"/>
              <a:buFont typeface="Arial"/>
              <a:buNone/>
            </a:pPr>
            <a:r>
              <a:rPr lang="en-US" sz="1300" b="1" i="0" u="none" strike="noStrike" cap="none" dirty="0">
                <a:solidFill>
                  <a:srgbClr val="2F9FB5"/>
                </a:solidFill>
                <a:latin typeface="Arial"/>
                <a:ea typeface="Arial"/>
                <a:cs typeface="Arial"/>
                <a:sym typeface="Arial"/>
              </a:rPr>
              <a:t>Main limitation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7589520" y="5810642"/>
            <a:ext cx="243230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B"/>
              </a:buClr>
              <a:buSzPts val="1360"/>
              <a:buFont typeface="Arial"/>
              <a:buNone/>
            </a:pPr>
            <a:r>
              <a:rPr lang="en-US" sz="1360" b="0" i="0" u="none" strike="noStrike" cap="none" dirty="0">
                <a:solidFill>
                  <a:srgbClr val="5B6B7B"/>
                </a:solidFill>
                <a:latin typeface="Arial"/>
                <a:ea typeface="Arial"/>
                <a:cs typeface="Arial"/>
                <a:sym typeface="Arial"/>
              </a:rPr>
              <a:t>Can dilute relevant signal by averaging</a:t>
            </a:r>
            <a:endParaRPr sz="136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"/>
          <p:cNvSpPr/>
          <p:nvPr/>
        </p:nvSpPr>
        <p:spPr>
          <a:xfrm>
            <a:off x="548640" y="320040"/>
            <a:ext cx="8778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How the code implements the experiment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10195560" y="356616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F6DB4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2F6DB4"/>
                </a:solidFill>
                <a:latin typeface="Arial"/>
                <a:ea typeface="Arial"/>
                <a:cs typeface="Arial"/>
                <a:sym typeface="Arial"/>
              </a:rPr>
              <a:t>FROM NOTEBOOK TO PIPELINE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" name="Google Shape;319;p10"/>
          <p:cNvCxnSpPr/>
          <p:nvPr/>
        </p:nvCxnSpPr>
        <p:spPr>
          <a:xfrm>
            <a:off x="548640" y="786384"/>
            <a:ext cx="11064240" cy="0"/>
          </a:xfrm>
          <a:prstGeom prst="straightConnector1">
            <a:avLst/>
          </a:prstGeom>
          <a:noFill/>
          <a:ln w="16500" cap="flat" cmpd="sng">
            <a:solidFill>
              <a:srgbClr val="BFD0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0" name="Google Shape;320;p10"/>
          <p:cNvSpPr/>
          <p:nvPr/>
        </p:nvSpPr>
        <p:spPr>
          <a:xfrm>
            <a:off x="0" y="1078991"/>
            <a:ext cx="6195060" cy="5779007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 cap="flat" cmpd="sng">
            <a:solidFill>
              <a:srgbClr val="D7E2EE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6400800" y="1108214"/>
            <a:ext cx="5394960" cy="5749779"/>
          </a:xfrm>
          <a:prstGeom prst="roundRect">
            <a:avLst>
              <a:gd name="adj" fmla="val 1368"/>
            </a:avLst>
          </a:prstGeom>
          <a:solidFill>
            <a:srgbClr val="FFFFFF"/>
          </a:solidFill>
          <a:ln w="12700" cap="flat" cmpd="sng">
            <a:solidFill>
              <a:srgbClr val="D7E2EE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553682" y="1160368"/>
            <a:ext cx="4037635" cy="365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F2742"/>
              </a:buClr>
              <a:buSzPts val="2200"/>
            </a:pPr>
            <a:r>
              <a:rPr lang="en-US" sz="1800" b="1" dirty="0"/>
              <a:t>Core code blocks in the notebook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197538" y="1699416"/>
            <a:ext cx="5883222" cy="4391856"/>
          </a:xfrm>
          <a:prstGeom prst="rect">
            <a:avLst/>
          </a:prstGeom>
          <a:solidFill>
            <a:srgbClr val="0F1724"/>
          </a:solidFill>
          <a:ln w="12700" cap="flat" cmpd="sng">
            <a:solidFill>
              <a:srgbClr val="2233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lvl="0">
              <a:buClr>
                <a:srgbClr val="8292A2"/>
              </a:buClr>
              <a:buSzPts val="1400"/>
            </a:pP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model = train_w2v(</a:t>
            </a:r>
            <a:r>
              <a:rPr lang="en-US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train_sessions</a:t>
            </a: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...)</a:t>
            </a:r>
          </a:p>
          <a:p>
            <a:pPr lvl="0">
              <a:buClr>
                <a:srgbClr val="8292A2"/>
              </a:buClr>
              <a:buSzPts val="1400"/>
            </a:pP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W, </a:t>
            </a:r>
            <a:r>
              <a:rPr lang="en-US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hotel_to_idx</a:t>
            </a: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idx_to_hotel</a:t>
            </a: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export_embeddings</a:t>
            </a: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(model)</a:t>
            </a:r>
          </a:p>
          <a:p>
            <a:pPr lvl="0">
              <a:buClr>
                <a:srgbClr val="8292A2"/>
              </a:buClr>
              <a:buSzPts val="1400"/>
            </a:pPr>
            <a:endParaRPr lang="en-US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rgbClr val="8292A2"/>
              </a:buClr>
              <a:buSzPts val="1400"/>
            </a:pP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popular_test_hit10 = </a:t>
            </a:r>
            <a:r>
              <a:rPr lang="en-US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hits_at_k_popular</a:t>
            </a: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test_sessions</a:t>
            </a: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popular_hotels</a:t>
            </a: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k=10)</a:t>
            </a:r>
          </a:p>
          <a:p>
            <a:pPr lvl="0">
              <a:buClr>
                <a:srgbClr val="8292A2"/>
              </a:buClr>
              <a:buSzPts val="1400"/>
            </a:pP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prev_test_hit10, </a:t>
            </a:r>
            <a:r>
              <a:rPr lang="en-US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prev_total</a:t>
            </a: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prev_skipped</a:t>
            </a: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hits_at_k_prev</a:t>
            </a: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</a:p>
          <a:p>
            <a:pPr lvl="0">
              <a:buClr>
                <a:srgbClr val="8292A2"/>
              </a:buClr>
              <a:buSzPts val="1400"/>
            </a:pP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test_sessions</a:t>
            </a: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W, </a:t>
            </a:r>
            <a:r>
              <a:rPr lang="en-US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hotel_to_idx</a:t>
            </a: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idx_to_hotel</a:t>
            </a: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k=10)</a:t>
            </a:r>
          </a:p>
          <a:p>
            <a:pPr lvl="0">
              <a:buClr>
                <a:srgbClr val="8292A2"/>
              </a:buClr>
              <a:buSzPts val="1400"/>
            </a:pP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context_test_hit10, </a:t>
            </a:r>
            <a:r>
              <a:rPr lang="en-US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context_total</a:t>
            </a: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context_skipped</a:t>
            </a: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hits_at_k_context</a:t>
            </a: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</a:p>
          <a:p>
            <a:pPr lvl="0">
              <a:buClr>
                <a:srgbClr val="8292A2"/>
              </a:buClr>
              <a:buSzPts val="1400"/>
            </a:pP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test_sessions</a:t>
            </a: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W, </a:t>
            </a:r>
            <a:r>
              <a:rPr lang="en-US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hotel_to_idx</a:t>
            </a: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idx_to_hotel, k=10)</a:t>
            </a:r>
          </a:p>
          <a:p>
            <a:pPr lvl="0">
              <a:buClr>
                <a:srgbClr val="8292A2"/>
              </a:buClr>
              <a:buSzPts val="1400"/>
            </a:pPr>
            <a:endParaRPr lang="en-US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rgbClr val="8292A2"/>
              </a:buClr>
              <a:buSzPts val="1400"/>
            </a:pP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results = </a:t>
            </a:r>
            <a:r>
              <a:rPr lang="en-US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pd.DataFrame</a:t>
            </a: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</a:p>
          <a:p>
            <a:pPr lvl="0">
              <a:buClr>
                <a:srgbClr val="8292A2"/>
              </a:buClr>
              <a:buSzPts val="1400"/>
            </a:pP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"Model": ["Popular", "W2V Prev", "W2V Context"],</a:t>
            </a:r>
          </a:p>
          <a:p>
            <a:pPr lvl="0">
              <a:buClr>
                <a:srgbClr val="8292A2"/>
              </a:buClr>
              <a:buSzPts val="1400"/>
            </a:pP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"Hits@10": [popular_test_hit10, prev_test_hit10, context_test_hit10]})</a:t>
            </a:r>
            <a:endParaRPr sz="11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177412" y="6182239"/>
            <a:ext cx="5394960" cy="55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D2B3A"/>
              </a:buClr>
              <a:buSzPts val="1650"/>
            </a:pPr>
            <a:r>
              <a:rPr lang="en-US" sz="1200" dirty="0"/>
              <a:t>The implementation mirrors the methodology: train embeddings, export vectors, evaluate the three recommenders, and compare Hits@10.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6400800" y="135331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Execution flow</a:t>
            </a:r>
            <a:endParaRPr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6537960" y="187452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2F6DB4"/>
          </a:solidFill>
          <a:ln w="12700" cap="flat" cmpd="sng">
            <a:solidFill>
              <a:srgbClr val="2F6D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6537960" y="2011680"/>
            <a:ext cx="22860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prepare sessions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9" name="Google Shape;329;p10"/>
          <p:cNvCxnSpPr/>
          <p:nvPr/>
        </p:nvCxnSpPr>
        <p:spPr>
          <a:xfrm>
            <a:off x="7680960" y="2340864"/>
            <a:ext cx="0" cy="301752"/>
          </a:xfrm>
          <a:prstGeom prst="straightConnector1">
            <a:avLst/>
          </a:prstGeom>
          <a:noFill/>
          <a:ln w="19050" cap="flat" cmpd="sng">
            <a:solidFill>
              <a:srgbClr val="7F99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0" name="Google Shape;330;p10"/>
          <p:cNvSpPr/>
          <p:nvPr/>
        </p:nvSpPr>
        <p:spPr>
          <a:xfrm>
            <a:off x="6537960" y="265176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2F9FB5"/>
          </a:solidFill>
          <a:ln w="12700" cap="flat" cmpd="sng">
            <a:solidFill>
              <a:srgbClr val="2F9F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6537960" y="2788920"/>
            <a:ext cx="22860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train Word2Vec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10"/>
          <p:cNvCxnSpPr/>
          <p:nvPr/>
        </p:nvCxnSpPr>
        <p:spPr>
          <a:xfrm>
            <a:off x="7680960" y="3118104"/>
            <a:ext cx="0" cy="301752"/>
          </a:xfrm>
          <a:prstGeom prst="straightConnector1">
            <a:avLst/>
          </a:prstGeom>
          <a:noFill/>
          <a:ln w="19050" cap="flat" cmpd="sng">
            <a:solidFill>
              <a:srgbClr val="7F99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3" name="Google Shape;333;p10"/>
          <p:cNvSpPr/>
          <p:nvPr/>
        </p:nvSpPr>
        <p:spPr>
          <a:xfrm>
            <a:off x="6537960" y="342900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D9A441"/>
          </a:solidFill>
          <a:ln w="12700" cap="flat" cmpd="sng">
            <a:solidFill>
              <a:srgbClr val="D9A4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6537960" y="3566160"/>
            <a:ext cx="22860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tune hyperparameters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" name="Google Shape;335;p10"/>
          <p:cNvCxnSpPr/>
          <p:nvPr/>
        </p:nvCxnSpPr>
        <p:spPr>
          <a:xfrm>
            <a:off x="7680960" y="3895344"/>
            <a:ext cx="0" cy="301752"/>
          </a:xfrm>
          <a:prstGeom prst="straightConnector1">
            <a:avLst/>
          </a:prstGeom>
          <a:noFill/>
          <a:ln w="19050" cap="flat" cmpd="sng">
            <a:solidFill>
              <a:srgbClr val="7F99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6" name="Google Shape;336;p10"/>
          <p:cNvSpPr/>
          <p:nvPr/>
        </p:nvSpPr>
        <p:spPr>
          <a:xfrm>
            <a:off x="6537960" y="4194649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4F8F62"/>
          </a:solidFill>
          <a:ln w="12700" cap="flat" cmpd="sng">
            <a:solidFill>
              <a:srgbClr val="4F8F6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6537960" y="4343400"/>
            <a:ext cx="22860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retrain final model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" name="Google Shape;338;p10"/>
          <p:cNvCxnSpPr/>
          <p:nvPr/>
        </p:nvCxnSpPr>
        <p:spPr>
          <a:xfrm>
            <a:off x="7680960" y="4672584"/>
            <a:ext cx="0" cy="301752"/>
          </a:xfrm>
          <a:prstGeom prst="straightConnector1">
            <a:avLst/>
          </a:prstGeom>
          <a:noFill/>
          <a:ln w="19050" cap="flat" cmpd="sng">
            <a:solidFill>
              <a:srgbClr val="7F99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9" name="Google Shape;339;p10"/>
          <p:cNvSpPr/>
          <p:nvPr/>
        </p:nvSpPr>
        <p:spPr>
          <a:xfrm>
            <a:off x="6537960" y="498348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B7657F"/>
          </a:solidFill>
          <a:ln w="12700" cap="flat" cmpd="sng">
            <a:solidFill>
              <a:srgbClr val="B765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6537960" y="5120640"/>
            <a:ext cx="22860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evaluate on test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9235440" y="1783080"/>
            <a:ext cx="1920240" cy="196596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 w="12700" cap="flat" cmpd="sng">
            <a:solidFill>
              <a:srgbClr val="D8E5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9400032" y="1965960"/>
            <a:ext cx="1637162" cy="1709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742"/>
              </a:buClr>
              <a:buSzPts val="1520"/>
            </a:pPr>
            <a:r>
              <a:rPr lang="en-US" sz="1600" dirty="0"/>
              <a:t>Validation is used to tune each model separately, and then both models are compared on the test set.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1520"/>
              <a:buFont typeface="Arial"/>
              <a:buNone/>
            </a:pPr>
            <a:endParaRPr sz="15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9235440" y="406908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BF7EF"/>
          </a:solidFill>
          <a:ln w="12700" cap="flat" cmpd="sng">
            <a:solidFill>
              <a:srgbClr val="E8DD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9555480" y="4197096"/>
            <a:ext cx="12801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Arial"/>
              <a:buNone/>
            </a:pPr>
            <a:r>
              <a:rPr lang="en-US" sz="1300" b="1" i="0" u="none" strike="noStrike" cap="none" dirty="0">
                <a:solidFill>
                  <a:srgbClr val="D9A441"/>
                </a:solidFill>
                <a:latin typeface="Arial"/>
                <a:ea typeface="Arial"/>
                <a:cs typeface="Arial"/>
                <a:sym typeface="Arial"/>
              </a:rPr>
              <a:t>Important detail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9400032" y="4610306"/>
            <a:ext cx="1572768" cy="620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60"/>
              <a:buFont typeface="Arial"/>
              <a:buNone/>
            </a:pPr>
            <a:r>
              <a:rPr lang="en-US" sz="1260" b="0" i="0" u="none" strike="noStrike" cap="none" dirty="0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Skipped sessions are reported when embeddings are missing for the required hotels.</a:t>
            </a:r>
            <a:endParaRPr sz="126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"/>
          <p:cNvSpPr/>
          <p:nvPr/>
        </p:nvSpPr>
        <p:spPr>
          <a:xfrm>
            <a:off x="548640" y="320040"/>
            <a:ext cx="8778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Evaluation strategy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10195560" y="356616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F6DB4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2F6DB4"/>
                </a:solidFill>
                <a:latin typeface="Arial"/>
                <a:ea typeface="Arial"/>
                <a:cs typeface="Arial"/>
                <a:sym typeface="Arial"/>
              </a:rPr>
              <a:t>HITS@10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11"/>
          <p:cNvCxnSpPr/>
          <p:nvPr/>
        </p:nvCxnSpPr>
        <p:spPr>
          <a:xfrm>
            <a:off x="548640" y="786384"/>
            <a:ext cx="11064240" cy="0"/>
          </a:xfrm>
          <a:prstGeom prst="straightConnector1">
            <a:avLst/>
          </a:prstGeom>
          <a:noFill/>
          <a:ln w="16500" cap="flat" cmpd="sng">
            <a:solidFill>
              <a:srgbClr val="BFD0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4" name="Google Shape;354;p11"/>
          <p:cNvSpPr/>
          <p:nvPr/>
        </p:nvSpPr>
        <p:spPr>
          <a:xfrm>
            <a:off x="658368" y="1078992"/>
            <a:ext cx="5440680" cy="5349240"/>
          </a:xfrm>
          <a:prstGeom prst="roundRect">
            <a:avLst>
              <a:gd name="adj" fmla="val 1368"/>
            </a:avLst>
          </a:prstGeom>
          <a:solidFill>
            <a:srgbClr val="FFFFFF"/>
          </a:solidFill>
          <a:ln w="12700" cap="flat" cmpd="sng">
            <a:solidFill>
              <a:srgbClr val="D7E2EE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1"/>
          <p:cNvSpPr/>
          <p:nvPr/>
        </p:nvSpPr>
        <p:spPr>
          <a:xfrm>
            <a:off x="6327648" y="1078992"/>
            <a:ext cx="5212080" cy="534924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 cap="flat" cmpd="sng">
            <a:solidFill>
              <a:srgbClr val="D7E2EE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1"/>
          <p:cNvSpPr/>
          <p:nvPr/>
        </p:nvSpPr>
        <p:spPr>
          <a:xfrm>
            <a:off x="914400" y="135331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Metric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914400" y="1783080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Hits@10 asks whether the true next hotel appears in the top 10 recommendations.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" name="Google Shape;358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0120" y="2331720"/>
            <a:ext cx="4434840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1"/>
          <p:cNvSpPr/>
          <p:nvPr/>
        </p:nvSpPr>
        <p:spPr>
          <a:xfrm>
            <a:off x="914400" y="3401568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DB4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F6DB4"/>
                </a:solidFill>
                <a:latin typeface="Arial"/>
                <a:ea typeface="Arial"/>
                <a:cs typeface="Arial"/>
                <a:sym typeface="Arial"/>
              </a:rPr>
              <a:t>Example ranked list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1005840" y="3675888"/>
            <a:ext cx="1234440" cy="219456"/>
          </a:xfrm>
          <a:prstGeom prst="roundRect">
            <a:avLst>
              <a:gd name="adj" fmla="val 8333"/>
            </a:avLst>
          </a:prstGeom>
          <a:solidFill>
            <a:srgbClr val="F7FAFD"/>
          </a:solidFill>
          <a:ln w="12700" cap="flat" cmpd="sng">
            <a:solidFill>
              <a:srgbClr val="DC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1078992" y="3749040"/>
            <a:ext cx="1097280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1  H44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1005840" y="3986784"/>
            <a:ext cx="1234440" cy="219456"/>
          </a:xfrm>
          <a:prstGeom prst="roundRect">
            <a:avLst>
              <a:gd name="adj" fmla="val 8333"/>
            </a:avLst>
          </a:prstGeom>
          <a:solidFill>
            <a:srgbClr val="F7FAFD"/>
          </a:solidFill>
          <a:ln w="12700" cap="flat" cmpd="sng">
            <a:solidFill>
              <a:srgbClr val="DC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1078992" y="4059936"/>
            <a:ext cx="1097280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2  H19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1005840" y="4297680"/>
            <a:ext cx="1234440" cy="219456"/>
          </a:xfrm>
          <a:prstGeom prst="roundRect">
            <a:avLst>
              <a:gd name="adj" fmla="val 8333"/>
            </a:avLst>
          </a:prstGeom>
          <a:solidFill>
            <a:srgbClr val="F7FAFD"/>
          </a:solidFill>
          <a:ln w="12700" cap="flat" cmpd="sng">
            <a:solidFill>
              <a:srgbClr val="DC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1078992" y="4370832"/>
            <a:ext cx="1097280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3  H83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1005840" y="4608576"/>
            <a:ext cx="1234440" cy="219456"/>
          </a:xfrm>
          <a:prstGeom prst="roundRect">
            <a:avLst>
              <a:gd name="adj" fmla="val 8333"/>
            </a:avLst>
          </a:prstGeom>
          <a:solidFill>
            <a:srgbClr val="DDE9F7"/>
          </a:solidFill>
          <a:ln w="12700" cap="flat" cmpd="sng">
            <a:solidFill>
              <a:srgbClr val="2F6D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1078992" y="4681728"/>
            <a:ext cx="1097280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4  H11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1005840" y="4919472"/>
            <a:ext cx="1234440" cy="219456"/>
          </a:xfrm>
          <a:prstGeom prst="roundRect">
            <a:avLst>
              <a:gd name="adj" fmla="val 8333"/>
            </a:avLst>
          </a:prstGeom>
          <a:solidFill>
            <a:srgbClr val="F7FAFD"/>
          </a:solidFill>
          <a:ln w="12700" cap="flat" cmpd="sng">
            <a:solidFill>
              <a:srgbClr val="DC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1078992" y="4992624"/>
            <a:ext cx="1097280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5  H72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1005840" y="5230368"/>
            <a:ext cx="1234440" cy="219456"/>
          </a:xfrm>
          <a:prstGeom prst="roundRect">
            <a:avLst>
              <a:gd name="adj" fmla="val 8333"/>
            </a:avLst>
          </a:prstGeom>
          <a:solidFill>
            <a:srgbClr val="F7FAFD"/>
          </a:solidFill>
          <a:ln w="12700" cap="flat" cmpd="sng">
            <a:solidFill>
              <a:srgbClr val="DC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1078992" y="5303520"/>
            <a:ext cx="1097280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1005840" y="5541264"/>
            <a:ext cx="1234440" cy="219456"/>
          </a:xfrm>
          <a:prstGeom prst="roundRect">
            <a:avLst>
              <a:gd name="adj" fmla="val 8333"/>
            </a:avLst>
          </a:prstGeom>
          <a:solidFill>
            <a:srgbClr val="F7FAFD"/>
          </a:solidFill>
          <a:ln w="12700" cap="flat" cmpd="sng">
            <a:solidFill>
              <a:srgbClr val="DC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1078992" y="5614416"/>
            <a:ext cx="1097280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10 H309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2560320" y="3913632"/>
            <a:ext cx="29260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If the actual next hotel is H11, this session counts as a hit because H11 is inside the top 10.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2606040" y="5120640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EFF6FB"/>
          </a:solidFill>
          <a:ln w="12700" cap="flat" cmpd="sng">
            <a:solidFill>
              <a:srgbClr val="D8E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2816352" y="5340096"/>
            <a:ext cx="2240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6DB4"/>
              </a:buClr>
              <a:buSzPts val="1220"/>
              <a:buFont typeface="Arial"/>
              <a:buNone/>
            </a:pPr>
            <a:r>
              <a:rPr lang="en-US" sz="1220" b="1" i="0" u="none" strike="noStrike" cap="none">
                <a:solidFill>
                  <a:srgbClr val="2F6DB4"/>
                </a:solidFill>
                <a:latin typeface="Arial"/>
                <a:ea typeface="Arial"/>
                <a:cs typeface="Arial"/>
                <a:sym typeface="Arial"/>
              </a:rPr>
              <a:t>Why this metric? It matches interfaces that show only a few ranked options.</a:t>
            </a:r>
            <a:endParaRPr sz="12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6583680" y="135331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Fair evaluation protocol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6583680" y="1847088"/>
            <a:ext cx="4572000" cy="4572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 cap="flat" cmpd="sng">
            <a:solidFill>
              <a:srgbClr val="D9E5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6766560" y="1993392"/>
            <a:ext cx="41605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Input: all but the last click in the session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6583680" y="2551176"/>
            <a:ext cx="4572000" cy="457200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12700" cap="flat" cmpd="sng">
            <a:solidFill>
              <a:srgbClr val="D9E5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6766560" y="2697480"/>
            <a:ext cx="41605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Target: the final hotel in the session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6583680" y="3255264"/>
            <a:ext cx="4572000" cy="4572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 cap="flat" cmpd="sng">
            <a:solidFill>
              <a:srgbClr val="D9E5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6766560" y="3401568"/>
            <a:ext cx="41605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Filtering: skip sessions with insufficient data or missing embeddings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6583680" y="3959352"/>
            <a:ext cx="4572000" cy="457200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12700" cap="flat" cmpd="sng">
            <a:solidFill>
              <a:srgbClr val="D9E5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1"/>
          <p:cNvSpPr/>
          <p:nvPr/>
        </p:nvSpPr>
        <p:spPr>
          <a:xfrm>
            <a:off x="6766560" y="4105656"/>
            <a:ext cx="41605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Selection: choose the best method on validation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6583680" y="4663440"/>
            <a:ext cx="4572000" cy="4572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12700" cap="flat" cmpd="sng">
            <a:solidFill>
              <a:srgbClr val="D9E5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6766560" y="4809744"/>
            <a:ext cx="41605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Final report: evaluate once on the test set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6583680" y="5504688"/>
            <a:ext cx="4572000" cy="640080"/>
          </a:xfrm>
          <a:prstGeom prst="roundRect">
            <a:avLst>
              <a:gd name="adj" fmla="val 13333"/>
            </a:avLst>
          </a:prstGeom>
          <a:solidFill>
            <a:srgbClr val="FBF7EF"/>
          </a:solidFill>
          <a:ln w="12700" cap="flat" cmpd="sng">
            <a:solidFill>
              <a:srgbClr val="E8DD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6784848" y="5760720"/>
            <a:ext cx="418795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80"/>
              <a:buFont typeface="Arial"/>
              <a:buNone/>
            </a:pPr>
            <a:r>
              <a:rPr lang="en-US" sz="1280" b="0" i="0" u="none" strike="noStrike" cap="none" dirty="0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Important limitation: Hits@10 does not reward a better rank position inside the top 10, so it is simple and useful, but not fully detailed.</a:t>
            </a:r>
            <a:endParaRPr sz="128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2"/>
          <p:cNvSpPr/>
          <p:nvPr/>
        </p:nvSpPr>
        <p:spPr>
          <a:xfrm>
            <a:off x="548640" y="320040"/>
            <a:ext cx="8778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10195560" y="356616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F6DB4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2F6DB4"/>
                </a:solidFill>
                <a:latin typeface="Arial"/>
                <a:ea typeface="Arial"/>
                <a:cs typeface="Arial"/>
                <a:sym typeface="Arial"/>
              </a:rPr>
              <a:t>TEST PERFORMANCE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7" name="Google Shape;397;p12"/>
          <p:cNvCxnSpPr/>
          <p:nvPr/>
        </p:nvCxnSpPr>
        <p:spPr>
          <a:xfrm>
            <a:off x="548640" y="786384"/>
            <a:ext cx="11064240" cy="0"/>
          </a:xfrm>
          <a:prstGeom prst="straightConnector1">
            <a:avLst/>
          </a:prstGeom>
          <a:noFill/>
          <a:ln w="16500" cap="flat" cmpd="sng">
            <a:solidFill>
              <a:srgbClr val="BFD0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8" name="Google Shape;398;p12"/>
          <p:cNvSpPr/>
          <p:nvPr/>
        </p:nvSpPr>
        <p:spPr>
          <a:xfrm>
            <a:off x="670560" y="1101852"/>
            <a:ext cx="6400800" cy="5349240"/>
          </a:xfrm>
          <a:prstGeom prst="roundRect">
            <a:avLst>
              <a:gd name="adj" fmla="val 1368"/>
            </a:avLst>
          </a:prstGeom>
          <a:solidFill>
            <a:srgbClr val="FFFFFF"/>
          </a:solidFill>
          <a:ln w="12700" cap="flat" cmpd="sng">
            <a:solidFill>
              <a:srgbClr val="D7E2EE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2"/>
          <p:cNvSpPr/>
          <p:nvPr/>
        </p:nvSpPr>
        <p:spPr>
          <a:xfrm>
            <a:off x="7269480" y="1078992"/>
            <a:ext cx="4251960" cy="534924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 cap="flat" cmpd="sng">
            <a:solidFill>
              <a:srgbClr val="D7E2EE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2"/>
          <p:cNvSpPr/>
          <p:nvPr/>
        </p:nvSpPr>
        <p:spPr>
          <a:xfrm>
            <a:off x="914400" y="135331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Hits@10 on the test set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914400" y="5166361"/>
            <a:ext cx="5181600" cy="1061444"/>
          </a:xfrm>
          <a:prstGeom prst="roundRect">
            <a:avLst>
              <a:gd name="adj" fmla="val 11765"/>
            </a:avLst>
          </a:prstGeom>
          <a:solidFill>
            <a:srgbClr val="F1F6FB"/>
          </a:solidFill>
          <a:ln w="12700" cap="flat" cmpd="sng">
            <a:solidFill>
              <a:srgbClr val="D8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1234440" y="5641848"/>
            <a:ext cx="46177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1650"/>
              <a:buFont typeface="Arial"/>
              <a:buNone/>
            </a:pPr>
            <a:r>
              <a:rPr lang="en-US" sz="1650" b="1" i="0" u="none" strike="noStrike" cap="none" dirty="0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Embedding models clearly beat the baseline, and the previous-item model gives the best overall ranking accuracy.</a:t>
            </a:r>
            <a:endParaRPr sz="16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7543800" y="13533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Exact scores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7543800" y="1828800"/>
            <a:ext cx="2377440" cy="457200"/>
          </a:xfrm>
          <a:prstGeom prst="rect">
            <a:avLst/>
          </a:prstGeom>
          <a:solidFill>
            <a:srgbClr val="0F2742"/>
          </a:solidFill>
          <a:ln w="12700" cap="flat" cmpd="sng">
            <a:solidFill>
              <a:srgbClr val="0F27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9921240" y="1828800"/>
            <a:ext cx="1143000" cy="457200"/>
          </a:xfrm>
          <a:prstGeom prst="rect">
            <a:avLst/>
          </a:prstGeom>
          <a:solidFill>
            <a:srgbClr val="0F2742"/>
          </a:solidFill>
          <a:ln w="12700" cap="flat" cmpd="sng">
            <a:solidFill>
              <a:srgbClr val="0F27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2"/>
          <p:cNvSpPr/>
          <p:nvPr/>
        </p:nvSpPr>
        <p:spPr>
          <a:xfrm>
            <a:off x="7662672" y="1965960"/>
            <a:ext cx="210312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9921240" y="1965960"/>
            <a:ext cx="11430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Hits@10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7543800" y="2395728"/>
            <a:ext cx="2377440" cy="457200"/>
          </a:xfrm>
          <a:prstGeom prst="rect">
            <a:avLst/>
          </a:prstGeom>
          <a:solidFill>
            <a:srgbClr val="F8FBFE"/>
          </a:solidFill>
          <a:ln w="12700" cap="flat" cmpd="sng">
            <a:solidFill>
              <a:srgbClr val="D9E5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2"/>
          <p:cNvSpPr/>
          <p:nvPr/>
        </p:nvSpPr>
        <p:spPr>
          <a:xfrm>
            <a:off x="9921240" y="2395728"/>
            <a:ext cx="1143000" cy="457200"/>
          </a:xfrm>
          <a:prstGeom prst="rect">
            <a:avLst/>
          </a:prstGeom>
          <a:solidFill>
            <a:srgbClr val="F8FBFE"/>
          </a:solidFill>
          <a:ln w="12700" cap="flat" cmpd="sng">
            <a:solidFill>
              <a:srgbClr val="D9E5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7662672" y="2532888"/>
            <a:ext cx="210312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Popular baseline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9921240" y="2532888"/>
            <a:ext cx="11430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0.0035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7543800" y="2962656"/>
            <a:ext cx="2377440" cy="457200"/>
          </a:xfrm>
          <a:prstGeom prst="rect">
            <a:avLst/>
          </a:prstGeom>
          <a:solidFill>
            <a:srgbClr val="EDF4FC"/>
          </a:solidFill>
          <a:ln w="12700" cap="flat" cmpd="sng">
            <a:solidFill>
              <a:srgbClr val="D9E5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2"/>
          <p:cNvSpPr/>
          <p:nvPr/>
        </p:nvSpPr>
        <p:spPr>
          <a:xfrm>
            <a:off x="9921240" y="2962656"/>
            <a:ext cx="1143000" cy="457200"/>
          </a:xfrm>
          <a:prstGeom prst="rect">
            <a:avLst/>
          </a:prstGeom>
          <a:solidFill>
            <a:srgbClr val="EDF4FC"/>
          </a:solidFill>
          <a:ln w="12700" cap="flat" cmpd="sng">
            <a:solidFill>
              <a:srgbClr val="D9E5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5" name="Google Shape;415;p12"/>
          <p:cNvSpPr/>
          <p:nvPr/>
        </p:nvSpPr>
        <p:spPr>
          <a:xfrm>
            <a:off x="7662672" y="3099816"/>
            <a:ext cx="210312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Previous-item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9921240" y="3099816"/>
            <a:ext cx="11430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0.0592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7543800" y="3529584"/>
            <a:ext cx="2377440" cy="457200"/>
          </a:xfrm>
          <a:prstGeom prst="rect">
            <a:avLst/>
          </a:prstGeom>
          <a:solidFill>
            <a:srgbClr val="F8FBFE"/>
          </a:solidFill>
          <a:ln w="12700" cap="flat" cmpd="sng">
            <a:solidFill>
              <a:srgbClr val="D9E5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2"/>
          <p:cNvSpPr/>
          <p:nvPr/>
        </p:nvSpPr>
        <p:spPr>
          <a:xfrm>
            <a:off x="9921240" y="3529584"/>
            <a:ext cx="1143000" cy="457200"/>
          </a:xfrm>
          <a:prstGeom prst="rect">
            <a:avLst/>
          </a:prstGeom>
          <a:solidFill>
            <a:srgbClr val="F8FBFE"/>
          </a:solidFill>
          <a:ln w="12700" cap="flat" cmpd="sng">
            <a:solidFill>
              <a:srgbClr val="D9E5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9" name="Google Shape;419;p12"/>
          <p:cNvSpPr/>
          <p:nvPr/>
        </p:nvSpPr>
        <p:spPr>
          <a:xfrm>
            <a:off x="7662672" y="3666744"/>
            <a:ext cx="210312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Context-based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9921240" y="3666744"/>
            <a:ext cx="11430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0.0405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7543800" y="4434840"/>
            <a:ext cx="3520440" cy="713232"/>
          </a:xfrm>
          <a:prstGeom prst="roundRect">
            <a:avLst>
              <a:gd name="adj" fmla="val 10256"/>
            </a:avLst>
          </a:prstGeom>
          <a:solidFill>
            <a:srgbClr val="EFF7F1"/>
          </a:solidFill>
          <a:ln w="12700" cap="flat" cmpd="sng">
            <a:solidFill>
              <a:srgbClr val="D5E8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2"/>
          <p:cNvSpPr/>
          <p:nvPr/>
        </p:nvSpPr>
        <p:spPr>
          <a:xfrm>
            <a:off x="7726680" y="4645152"/>
            <a:ext cx="315468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F8F62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4F8F62"/>
                </a:solidFill>
                <a:latin typeface="Arial"/>
                <a:ea typeface="Arial"/>
                <a:cs typeface="Arial"/>
                <a:sym typeface="Arial"/>
              </a:rPr>
              <a:t>16.5x higher than the popularity baseline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7543800" y="5394960"/>
            <a:ext cx="3520440" cy="713232"/>
          </a:xfrm>
          <a:prstGeom prst="roundRect">
            <a:avLst>
              <a:gd name="adj" fmla="val 10256"/>
            </a:avLst>
          </a:prstGeom>
          <a:solidFill>
            <a:srgbClr val="EEF4FB"/>
          </a:solidFill>
          <a:ln w="12700" cap="flat" cmpd="sng">
            <a:solidFill>
              <a:srgbClr val="D8E5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2"/>
          <p:cNvSpPr/>
          <p:nvPr/>
        </p:nvSpPr>
        <p:spPr>
          <a:xfrm>
            <a:off x="7726680" y="5614416"/>
            <a:ext cx="315468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6DB4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2F6DB4"/>
                </a:solidFill>
                <a:latin typeface="Arial"/>
                <a:ea typeface="Arial"/>
                <a:cs typeface="Arial"/>
                <a:sym typeface="Arial"/>
              </a:rPr>
              <a:t>About 42% higher than the context model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610B1F-F21B-E033-FC54-E74356BF0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0" y="1860804"/>
            <a:ext cx="4788845" cy="32130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3"/>
          <p:cNvSpPr/>
          <p:nvPr/>
        </p:nvSpPr>
        <p:spPr>
          <a:xfrm>
            <a:off x="548640" y="320040"/>
            <a:ext cx="8778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Discussion and interpretation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10195560" y="356616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F6DB4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2F6DB4"/>
                </a:solidFill>
                <a:latin typeface="Arial"/>
                <a:ea typeface="Arial"/>
                <a:cs typeface="Arial"/>
                <a:sym typeface="Arial"/>
              </a:rPr>
              <a:t>WHAT THE RESULTS MEAN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2" name="Google Shape;432;p13"/>
          <p:cNvCxnSpPr/>
          <p:nvPr/>
        </p:nvCxnSpPr>
        <p:spPr>
          <a:xfrm>
            <a:off x="548640" y="786384"/>
            <a:ext cx="11064240" cy="0"/>
          </a:xfrm>
          <a:prstGeom prst="straightConnector1">
            <a:avLst/>
          </a:prstGeom>
          <a:noFill/>
          <a:ln w="16500" cap="flat" cmpd="sng">
            <a:solidFill>
              <a:srgbClr val="BFD0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3" name="Google Shape;433;p13"/>
          <p:cNvSpPr/>
          <p:nvPr/>
        </p:nvSpPr>
        <p:spPr>
          <a:xfrm>
            <a:off x="658368" y="1170432"/>
            <a:ext cx="4846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 cap="flat" cmpd="sng">
            <a:solidFill>
              <a:srgbClr val="D7E2EE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3"/>
          <p:cNvSpPr/>
          <p:nvPr/>
        </p:nvSpPr>
        <p:spPr>
          <a:xfrm>
            <a:off x="932688" y="1481328"/>
            <a:ext cx="429768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DB4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F6DB4"/>
                </a:solidFill>
                <a:latin typeface="Arial"/>
                <a:ea typeface="Arial"/>
                <a:cs typeface="Arial"/>
                <a:sym typeface="Arial"/>
              </a:rPr>
              <a:t>Why the previous-item model wins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932688" y="1883664"/>
            <a:ext cx="42976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Recent clicks carry the strongest short-term intent. In this dataset, local sequential patterns are more informative than longer context.</a:t>
            </a:r>
            <a:endParaRPr sz="16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6053328" y="1170432"/>
            <a:ext cx="4846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 cap="flat" cmpd="sng">
            <a:solidFill>
              <a:srgbClr val="D7E2EE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3"/>
          <p:cNvSpPr/>
          <p:nvPr/>
        </p:nvSpPr>
        <p:spPr>
          <a:xfrm>
            <a:off x="6327648" y="1481328"/>
            <a:ext cx="429768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8F62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4F8F62"/>
                </a:solidFill>
                <a:latin typeface="Arial"/>
                <a:ea typeface="Arial"/>
                <a:cs typeface="Arial"/>
                <a:sym typeface="Arial"/>
              </a:rPr>
              <a:t>Why the context model is weaker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6327648" y="1883664"/>
            <a:ext cx="42976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Averaging many embeddings can blur the most relevant signal, especially when users explore several directions in the same session.</a:t>
            </a:r>
            <a:endParaRPr sz="16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658368" y="3822192"/>
            <a:ext cx="4846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 cap="flat" cmpd="sng">
            <a:solidFill>
              <a:srgbClr val="D7E2EE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932688" y="4133088"/>
            <a:ext cx="429768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D9A441"/>
                </a:solidFill>
                <a:latin typeface="Arial"/>
                <a:ea typeface="Arial"/>
                <a:cs typeface="Arial"/>
                <a:sym typeface="Arial"/>
              </a:rPr>
              <a:t>Why absolute values stay low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932688" y="4535424"/>
            <a:ext cx="42976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The hotel space is very large and sparse, so recommendation is inherently difficult. Even small absolute gains matter in this setting.</a:t>
            </a:r>
            <a:endParaRPr sz="16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3"/>
          <p:cNvSpPr/>
          <p:nvPr/>
        </p:nvSpPr>
        <p:spPr>
          <a:xfrm>
            <a:off x="6053328" y="3822192"/>
            <a:ext cx="4846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 cap="flat" cmpd="sng">
            <a:solidFill>
              <a:srgbClr val="D7E2EE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3"/>
          <p:cNvSpPr/>
          <p:nvPr/>
        </p:nvSpPr>
        <p:spPr>
          <a:xfrm>
            <a:off x="6327648" y="4133088"/>
            <a:ext cx="429768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657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B7657F"/>
                </a:solidFill>
                <a:latin typeface="Arial"/>
                <a:ea typeface="Arial"/>
                <a:cs typeface="Arial"/>
                <a:sym typeface="Arial"/>
              </a:rPr>
              <a:t>What to be careful about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6327648" y="4535424"/>
            <a:ext cx="42976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Some sessions are skipped when embeddings are unavailable, so reported scores reflect an evaluable subset and may be slightly optimistic.</a:t>
            </a:r>
            <a:endParaRPr sz="16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4"/>
          <p:cNvSpPr/>
          <p:nvPr/>
        </p:nvSpPr>
        <p:spPr>
          <a:xfrm>
            <a:off x="548640" y="320040"/>
            <a:ext cx="8778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Limitations and future work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10195560" y="356616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F6DB4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2F6DB4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" name="Google Shape;452;p14"/>
          <p:cNvCxnSpPr/>
          <p:nvPr/>
        </p:nvCxnSpPr>
        <p:spPr>
          <a:xfrm>
            <a:off x="548640" y="786384"/>
            <a:ext cx="11064240" cy="0"/>
          </a:xfrm>
          <a:prstGeom prst="straightConnector1">
            <a:avLst/>
          </a:prstGeom>
          <a:noFill/>
          <a:ln w="16500" cap="flat" cmpd="sng">
            <a:solidFill>
              <a:srgbClr val="BFD0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3" name="Google Shape;453;p14"/>
          <p:cNvSpPr/>
          <p:nvPr/>
        </p:nvSpPr>
        <p:spPr>
          <a:xfrm>
            <a:off x="658368" y="1078992"/>
            <a:ext cx="5166360" cy="534924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 cap="flat" cmpd="sng">
            <a:solidFill>
              <a:srgbClr val="D7E2EE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4"/>
          <p:cNvSpPr/>
          <p:nvPr/>
        </p:nvSpPr>
        <p:spPr>
          <a:xfrm>
            <a:off x="6053328" y="1078992"/>
            <a:ext cx="5486400" cy="5349240"/>
          </a:xfrm>
          <a:prstGeom prst="roundRect">
            <a:avLst>
              <a:gd name="adj" fmla="val 1368"/>
            </a:avLst>
          </a:prstGeom>
          <a:solidFill>
            <a:srgbClr val="FFFFFF"/>
          </a:solidFill>
          <a:ln w="12700" cap="flat" cmpd="sng">
            <a:solidFill>
              <a:srgbClr val="D7E2EE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4"/>
          <p:cNvSpPr/>
          <p:nvPr/>
        </p:nvSpPr>
        <p:spPr>
          <a:xfrm>
            <a:off x="914400" y="135331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Current limitations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4"/>
          <p:cNvSpPr/>
          <p:nvPr/>
        </p:nvSpPr>
        <p:spPr>
          <a:xfrm>
            <a:off x="914400" y="182880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920"/>
              <a:buFont typeface="Arial"/>
              <a:buNone/>
            </a:pPr>
            <a:r>
              <a:rPr lang="en-US" sz="1920" b="1" i="0" u="none" strike="noStrike" cap="none">
                <a:solidFill>
                  <a:srgbClr val="D9A44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9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1115568" y="1837944"/>
            <a:ext cx="43251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Rare hotels receive weak training signal.</a:t>
            </a:r>
            <a:endParaRPr sz="1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914400" y="2231136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920"/>
              <a:buFont typeface="Arial"/>
              <a:buNone/>
            </a:pPr>
            <a:r>
              <a:rPr lang="en-US" sz="1920" b="1" i="0" u="none" strike="noStrike" cap="none">
                <a:solidFill>
                  <a:srgbClr val="D9A44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9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4"/>
          <p:cNvSpPr/>
          <p:nvPr/>
        </p:nvSpPr>
        <p:spPr>
          <a:xfrm>
            <a:off x="1097280" y="2313432"/>
            <a:ext cx="43251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620"/>
              <a:buFont typeface="Arial"/>
              <a:buNone/>
            </a:pPr>
            <a:r>
              <a:rPr lang="en-US" sz="1620" b="0" i="0" u="none" strike="noStrike" cap="none" dirty="0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Word2Vec cannot model long-range dependencies explicitly.</a:t>
            </a:r>
            <a:endParaRPr sz="16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914400" y="269105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920"/>
              <a:buFont typeface="Arial"/>
              <a:buNone/>
            </a:pPr>
            <a:r>
              <a:rPr lang="en-US" sz="1920" b="1" i="0" u="none" strike="noStrike" cap="none" dirty="0">
                <a:solidFill>
                  <a:srgbClr val="D9A44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9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1115568" y="2825496"/>
            <a:ext cx="43251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620"/>
              <a:buFont typeface="Arial"/>
              <a:buNone/>
            </a:pPr>
            <a:r>
              <a:rPr lang="en-US" sz="1620" b="0" i="0" u="none" strike="noStrike" cap="none" dirty="0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A 5% sample improves feasibility but may reduce representativeness.</a:t>
            </a:r>
            <a:endParaRPr sz="16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895123" y="3196199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920"/>
              <a:buFont typeface="Arial"/>
              <a:buNone/>
            </a:pPr>
            <a:r>
              <a:rPr lang="en-US" sz="1920" b="1" i="0" u="none" strike="noStrike" cap="none" dirty="0">
                <a:solidFill>
                  <a:srgbClr val="D9A44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9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1115568" y="3364992"/>
            <a:ext cx="43251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620"/>
              <a:buFont typeface="Arial"/>
              <a:buNone/>
            </a:pPr>
            <a:r>
              <a:rPr lang="en-US" sz="1620" b="0" i="0" u="none" strike="noStrike" cap="none" dirty="0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Hits@10 alone does not capture detailed ranking quality.</a:t>
            </a:r>
            <a:endParaRPr sz="16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4"/>
          <p:cNvSpPr/>
          <p:nvPr/>
        </p:nvSpPr>
        <p:spPr>
          <a:xfrm>
            <a:off x="895123" y="5162159"/>
            <a:ext cx="4545557" cy="818511"/>
          </a:xfrm>
          <a:prstGeom prst="roundRect">
            <a:avLst>
              <a:gd name="adj" fmla="val 11111"/>
            </a:avLst>
          </a:prstGeom>
          <a:solidFill>
            <a:srgbClr val="F7EEF0"/>
          </a:solidFill>
          <a:ln w="12700" cap="flat" cmpd="sng">
            <a:solidFill>
              <a:srgbClr val="E9D4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4"/>
          <p:cNvSpPr/>
          <p:nvPr/>
        </p:nvSpPr>
        <p:spPr>
          <a:xfrm>
            <a:off x="1115568" y="5522976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350"/>
              <a:buFont typeface="Arial"/>
              <a:buNone/>
            </a:pPr>
            <a:r>
              <a:rPr lang="en-US" sz="1350" b="0" i="0" u="none" strike="noStrike" cap="none" dirty="0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Important trade-off: stability improves when rare hotels are filtered, but coverage becomes weaker for those same hotels.</a:t>
            </a:r>
            <a:endParaRPr sz="13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6327648" y="135331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Future improvements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7" name="Google Shape;467;p14"/>
          <p:cNvCxnSpPr/>
          <p:nvPr/>
        </p:nvCxnSpPr>
        <p:spPr>
          <a:xfrm>
            <a:off x="6675120" y="2240280"/>
            <a:ext cx="731520" cy="0"/>
          </a:xfrm>
          <a:prstGeom prst="straightConnector1">
            <a:avLst/>
          </a:prstGeom>
          <a:noFill/>
          <a:ln w="19050" cap="flat" cmpd="sng">
            <a:solidFill>
              <a:srgbClr val="B9CAD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68" name="Google Shape;468;p14"/>
          <p:cNvSpPr/>
          <p:nvPr/>
        </p:nvSpPr>
        <p:spPr>
          <a:xfrm>
            <a:off x="6473952" y="2075688"/>
            <a:ext cx="292608" cy="292608"/>
          </a:xfrm>
          <a:prstGeom prst="ellipse">
            <a:avLst/>
          </a:prstGeom>
          <a:solidFill>
            <a:srgbClr val="2F6DB4"/>
          </a:solidFill>
          <a:ln w="12700" cap="flat" cmpd="sng">
            <a:solidFill>
              <a:srgbClr val="2F6D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4"/>
          <p:cNvSpPr/>
          <p:nvPr/>
        </p:nvSpPr>
        <p:spPr>
          <a:xfrm>
            <a:off x="7315200" y="1892808"/>
            <a:ext cx="3611880" cy="658368"/>
          </a:xfrm>
          <a:prstGeom prst="roundRect">
            <a:avLst>
              <a:gd name="adj" fmla="val 11111"/>
            </a:avLst>
          </a:prstGeom>
          <a:solidFill>
            <a:srgbClr val="F7FAFD"/>
          </a:solidFill>
          <a:ln w="12700" cap="flat" cmpd="sng">
            <a:solidFill>
              <a:srgbClr val="D9E5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4"/>
          <p:cNvSpPr/>
          <p:nvPr/>
        </p:nvSpPr>
        <p:spPr>
          <a:xfrm>
            <a:off x="7498080" y="2048256"/>
            <a:ext cx="31089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1380"/>
              <a:buFont typeface="Arial"/>
              <a:buNone/>
            </a:pPr>
            <a:r>
              <a:rPr lang="en-US" sz="138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Richer metrics</a:t>
            </a:r>
            <a:endParaRPr sz="13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4"/>
          <p:cNvSpPr/>
          <p:nvPr/>
        </p:nvSpPr>
        <p:spPr>
          <a:xfrm>
            <a:off x="7498080" y="2249424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80"/>
              <a:buFont typeface="Arial"/>
              <a:buNone/>
            </a:pPr>
            <a:r>
              <a:rPr lang="en-US" sz="118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Add Recall@K, MRR and NDCG</a:t>
            </a:r>
            <a:endParaRPr sz="11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2" name="Google Shape;472;p14"/>
          <p:cNvCxnSpPr/>
          <p:nvPr/>
        </p:nvCxnSpPr>
        <p:spPr>
          <a:xfrm>
            <a:off x="6675120" y="3172968"/>
            <a:ext cx="731520" cy="0"/>
          </a:xfrm>
          <a:prstGeom prst="straightConnector1">
            <a:avLst/>
          </a:prstGeom>
          <a:noFill/>
          <a:ln w="19050" cap="flat" cmpd="sng">
            <a:solidFill>
              <a:srgbClr val="B9CAD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3" name="Google Shape;473;p14"/>
          <p:cNvSpPr/>
          <p:nvPr/>
        </p:nvSpPr>
        <p:spPr>
          <a:xfrm>
            <a:off x="6473952" y="3008376"/>
            <a:ext cx="292608" cy="292608"/>
          </a:xfrm>
          <a:prstGeom prst="ellipse">
            <a:avLst/>
          </a:prstGeom>
          <a:solidFill>
            <a:srgbClr val="2F9FB5"/>
          </a:solidFill>
          <a:ln w="12700" cap="flat" cmpd="sng">
            <a:solidFill>
              <a:srgbClr val="2F9F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4"/>
          <p:cNvSpPr/>
          <p:nvPr/>
        </p:nvSpPr>
        <p:spPr>
          <a:xfrm>
            <a:off x="7315200" y="2825496"/>
            <a:ext cx="3611880" cy="658368"/>
          </a:xfrm>
          <a:prstGeom prst="roundRect">
            <a:avLst>
              <a:gd name="adj" fmla="val 11111"/>
            </a:avLst>
          </a:prstGeom>
          <a:solidFill>
            <a:srgbClr val="F1F6FB"/>
          </a:solidFill>
          <a:ln w="12700" cap="flat" cmpd="sng">
            <a:solidFill>
              <a:srgbClr val="D9E5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4"/>
          <p:cNvSpPr/>
          <p:nvPr/>
        </p:nvSpPr>
        <p:spPr>
          <a:xfrm>
            <a:off x="7498080" y="2980944"/>
            <a:ext cx="31089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1380"/>
              <a:buFont typeface="Arial"/>
              <a:buNone/>
            </a:pPr>
            <a:r>
              <a:rPr lang="en-US" sz="138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More context</a:t>
            </a:r>
            <a:endParaRPr sz="13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4"/>
          <p:cNvSpPr/>
          <p:nvPr/>
        </p:nvSpPr>
        <p:spPr>
          <a:xfrm>
            <a:off x="7498080" y="3182112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80"/>
              <a:buFont typeface="Arial"/>
              <a:buNone/>
            </a:pPr>
            <a:r>
              <a:rPr lang="en-US" sz="118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Use attributes such as price or location</a:t>
            </a:r>
            <a:endParaRPr sz="11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7" name="Google Shape;477;p14"/>
          <p:cNvCxnSpPr/>
          <p:nvPr/>
        </p:nvCxnSpPr>
        <p:spPr>
          <a:xfrm>
            <a:off x="6675120" y="4105656"/>
            <a:ext cx="731520" cy="0"/>
          </a:xfrm>
          <a:prstGeom prst="straightConnector1">
            <a:avLst/>
          </a:prstGeom>
          <a:noFill/>
          <a:ln w="19050" cap="flat" cmpd="sng">
            <a:solidFill>
              <a:srgbClr val="B9CAD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8" name="Google Shape;478;p14"/>
          <p:cNvSpPr/>
          <p:nvPr/>
        </p:nvSpPr>
        <p:spPr>
          <a:xfrm>
            <a:off x="6473952" y="3941064"/>
            <a:ext cx="292608" cy="292608"/>
          </a:xfrm>
          <a:prstGeom prst="ellipse">
            <a:avLst/>
          </a:prstGeom>
          <a:solidFill>
            <a:srgbClr val="D9A441"/>
          </a:solidFill>
          <a:ln w="12700" cap="flat" cmpd="sng">
            <a:solidFill>
              <a:srgbClr val="D9A4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4"/>
          <p:cNvSpPr/>
          <p:nvPr/>
        </p:nvSpPr>
        <p:spPr>
          <a:xfrm>
            <a:off x="7315200" y="3758184"/>
            <a:ext cx="3611880" cy="658368"/>
          </a:xfrm>
          <a:prstGeom prst="roundRect">
            <a:avLst>
              <a:gd name="adj" fmla="val 11111"/>
            </a:avLst>
          </a:prstGeom>
          <a:solidFill>
            <a:srgbClr val="F7FAFD"/>
          </a:solidFill>
          <a:ln w="12700" cap="flat" cmpd="sng">
            <a:solidFill>
              <a:srgbClr val="D9E5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4"/>
          <p:cNvSpPr/>
          <p:nvPr/>
        </p:nvSpPr>
        <p:spPr>
          <a:xfrm>
            <a:off x="7498080" y="3913632"/>
            <a:ext cx="31089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1380"/>
              <a:buFont typeface="Arial"/>
              <a:buNone/>
            </a:pPr>
            <a:r>
              <a:rPr lang="en-US" sz="138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Stronger models</a:t>
            </a:r>
            <a:endParaRPr sz="13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4"/>
          <p:cNvSpPr/>
          <p:nvPr/>
        </p:nvSpPr>
        <p:spPr>
          <a:xfrm>
            <a:off x="7498080" y="4114800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80"/>
              <a:buFont typeface="Arial"/>
              <a:buNone/>
            </a:pPr>
            <a:r>
              <a:rPr lang="en-US" sz="118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Test GRU-based and transformer models</a:t>
            </a:r>
            <a:endParaRPr sz="11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2" name="Google Shape;482;p14"/>
          <p:cNvCxnSpPr/>
          <p:nvPr/>
        </p:nvCxnSpPr>
        <p:spPr>
          <a:xfrm>
            <a:off x="6675120" y="5038344"/>
            <a:ext cx="731520" cy="0"/>
          </a:xfrm>
          <a:prstGeom prst="straightConnector1">
            <a:avLst/>
          </a:prstGeom>
          <a:noFill/>
          <a:ln w="19050" cap="flat" cmpd="sng">
            <a:solidFill>
              <a:srgbClr val="B9CAD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3" name="Google Shape;483;p14"/>
          <p:cNvSpPr/>
          <p:nvPr/>
        </p:nvSpPr>
        <p:spPr>
          <a:xfrm>
            <a:off x="6473952" y="4873752"/>
            <a:ext cx="292608" cy="292608"/>
          </a:xfrm>
          <a:prstGeom prst="ellipse">
            <a:avLst/>
          </a:prstGeom>
          <a:solidFill>
            <a:srgbClr val="4F8F62"/>
          </a:solidFill>
          <a:ln w="12700" cap="flat" cmpd="sng">
            <a:solidFill>
              <a:srgbClr val="4F8F6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4"/>
          <p:cNvSpPr/>
          <p:nvPr/>
        </p:nvSpPr>
        <p:spPr>
          <a:xfrm>
            <a:off x="7315200" y="4690872"/>
            <a:ext cx="3611880" cy="658368"/>
          </a:xfrm>
          <a:prstGeom prst="roundRect">
            <a:avLst>
              <a:gd name="adj" fmla="val 11111"/>
            </a:avLst>
          </a:prstGeom>
          <a:solidFill>
            <a:srgbClr val="F1F6FB"/>
          </a:solidFill>
          <a:ln w="12700" cap="flat" cmpd="sng">
            <a:solidFill>
              <a:srgbClr val="D9E5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4"/>
          <p:cNvSpPr/>
          <p:nvPr/>
        </p:nvSpPr>
        <p:spPr>
          <a:xfrm>
            <a:off x="7498080" y="4846320"/>
            <a:ext cx="31089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742"/>
              </a:buClr>
              <a:buSzPts val="1380"/>
              <a:buFont typeface="Arial"/>
              <a:buNone/>
            </a:pPr>
            <a:r>
              <a:rPr lang="en-US" sz="1380" b="1" i="0" u="none" strike="noStrike" cap="none">
                <a:solidFill>
                  <a:srgbClr val="0F2742"/>
                </a:solidFill>
                <a:latin typeface="Arial"/>
                <a:ea typeface="Arial"/>
                <a:cs typeface="Arial"/>
                <a:sym typeface="Arial"/>
              </a:rPr>
              <a:t>Operational realism</a:t>
            </a:r>
            <a:endParaRPr sz="13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4"/>
          <p:cNvSpPr/>
          <p:nvPr/>
        </p:nvSpPr>
        <p:spPr>
          <a:xfrm>
            <a:off x="7498080" y="5047488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80"/>
              <a:buFont typeface="Arial"/>
              <a:buNone/>
            </a:pPr>
            <a:r>
              <a:rPr lang="en-US" sz="1180" b="0" i="0" u="none" strike="noStrike" cap="non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Explore real-time or incremental updates</a:t>
            </a:r>
            <a:endParaRPr sz="11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42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742"/>
          </a:solidFill>
          <a:ln w="12700" cap="flat" cmpd="sng">
            <a:solidFill>
              <a:srgbClr val="0F27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5"/>
          <p:cNvSpPr/>
          <p:nvPr/>
        </p:nvSpPr>
        <p:spPr>
          <a:xfrm>
            <a:off x="8001000" y="0"/>
            <a:ext cx="4187952" cy="6858000"/>
          </a:xfrm>
          <a:prstGeom prst="rect">
            <a:avLst/>
          </a:prstGeom>
          <a:solidFill>
            <a:srgbClr val="14345A"/>
          </a:solidFill>
          <a:ln w="12700" cap="flat" cmpd="sng">
            <a:solidFill>
              <a:srgbClr val="143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5"/>
          <p:cNvSpPr/>
          <p:nvPr/>
        </p:nvSpPr>
        <p:spPr>
          <a:xfrm>
            <a:off x="822960" y="8686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2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5"/>
          <p:cNvSpPr/>
          <p:nvPr/>
        </p:nvSpPr>
        <p:spPr>
          <a:xfrm>
            <a:off x="822960" y="1307592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DBEE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C9DBEE"/>
                </a:solidFill>
                <a:latin typeface="Arial"/>
                <a:ea typeface="Arial"/>
                <a:cs typeface="Arial"/>
                <a:sym typeface="Arial"/>
              </a:rPr>
              <a:t>Three takeaways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914400" y="1920240"/>
            <a:ext cx="310896" cy="310896"/>
          </a:xfrm>
          <a:prstGeom prst="ellipse">
            <a:avLst/>
          </a:prstGeom>
          <a:solidFill>
            <a:srgbClr val="2F6DB4"/>
          </a:solidFill>
          <a:ln w="12700" cap="flat" cmpd="sng">
            <a:solidFill>
              <a:srgbClr val="2F6D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5"/>
          <p:cNvSpPr/>
          <p:nvPr/>
        </p:nvSpPr>
        <p:spPr>
          <a:xfrm>
            <a:off x="914400" y="2011680"/>
            <a:ext cx="310896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5"/>
          <p:cNvSpPr/>
          <p:nvPr/>
        </p:nvSpPr>
        <p:spPr>
          <a:xfrm>
            <a:off x="1371600" y="1901952"/>
            <a:ext cx="5257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Session sequences can be modeled effectively without explicit user profiles.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5"/>
          <p:cNvSpPr/>
          <p:nvPr/>
        </p:nvSpPr>
        <p:spPr>
          <a:xfrm>
            <a:off x="914400" y="2944368"/>
            <a:ext cx="310896" cy="310896"/>
          </a:xfrm>
          <a:prstGeom prst="ellipse">
            <a:avLst/>
          </a:prstGeom>
          <a:solidFill>
            <a:srgbClr val="2F9FB5"/>
          </a:solidFill>
          <a:ln w="12700" cap="flat" cmpd="sng">
            <a:solidFill>
              <a:srgbClr val="2F9F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5"/>
          <p:cNvSpPr/>
          <p:nvPr/>
        </p:nvSpPr>
        <p:spPr>
          <a:xfrm>
            <a:off x="914400" y="3035808"/>
            <a:ext cx="310896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5"/>
          <p:cNvSpPr/>
          <p:nvPr/>
        </p:nvSpPr>
        <p:spPr>
          <a:xfrm>
            <a:off x="1371600" y="2926080"/>
            <a:ext cx="5257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Word2Vec embeddings clearly outperform a simple popularity baseline.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5"/>
          <p:cNvSpPr/>
          <p:nvPr/>
        </p:nvSpPr>
        <p:spPr>
          <a:xfrm>
            <a:off x="914400" y="3968496"/>
            <a:ext cx="310896" cy="310896"/>
          </a:xfrm>
          <a:prstGeom prst="ellipse">
            <a:avLst/>
          </a:prstGeom>
          <a:solidFill>
            <a:srgbClr val="D9A441"/>
          </a:solidFill>
          <a:ln w="12700" cap="flat" cmpd="sng">
            <a:solidFill>
              <a:srgbClr val="D9A4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5"/>
          <p:cNvSpPr/>
          <p:nvPr/>
        </p:nvSpPr>
        <p:spPr>
          <a:xfrm>
            <a:off x="914400" y="4059936"/>
            <a:ext cx="310896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5"/>
          <p:cNvSpPr/>
          <p:nvPr/>
        </p:nvSpPr>
        <p:spPr>
          <a:xfrm>
            <a:off x="1371600" y="3950208"/>
            <a:ext cx="5257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last interaction is the strongest predictor of the next hotel click.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5"/>
          <p:cNvSpPr/>
          <p:nvPr/>
        </p:nvSpPr>
        <p:spPr>
          <a:xfrm>
            <a:off x="8302752" y="1249895"/>
            <a:ext cx="2788920" cy="2880360"/>
          </a:xfrm>
          <a:prstGeom prst="roundRect">
            <a:avLst>
              <a:gd name="adj" fmla="val 2623"/>
            </a:avLst>
          </a:prstGeom>
          <a:solidFill>
            <a:srgbClr val="1C416C"/>
          </a:solidFill>
          <a:ln w="12700" cap="flat" cmpd="sng">
            <a:solidFill>
              <a:srgbClr val="376290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5"/>
          <p:cNvSpPr/>
          <p:nvPr/>
        </p:nvSpPr>
        <p:spPr>
          <a:xfrm>
            <a:off x="8796528" y="157276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BD1E6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BBD1E6"/>
                </a:solidFill>
                <a:latin typeface="Arial"/>
                <a:ea typeface="Arial"/>
                <a:cs typeface="Arial"/>
                <a:sym typeface="Arial"/>
              </a:rPr>
              <a:t>Final result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5"/>
          <p:cNvSpPr/>
          <p:nvPr/>
        </p:nvSpPr>
        <p:spPr>
          <a:xfrm>
            <a:off x="8705088" y="1965960"/>
            <a:ext cx="20116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Hits@10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0.0592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5"/>
          <p:cNvSpPr/>
          <p:nvPr/>
        </p:nvSpPr>
        <p:spPr>
          <a:xfrm>
            <a:off x="8595360" y="3090672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E7F5"/>
              </a:buClr>
              <a:buSzPts val="1320"/>
              <a:buFont typeface="Arial"/>
              <a:buNone/>
            </a:pPr>
            <a:r>
              <a:rPr lang="en-US" sz="1320" b="0" i="0" u="none" strike="noStrike" cap="none">
                <a:solidFill>
                  <a:srgbClr val="DCE7F5"/>
                </a:solidFill>
                <a:latin typeface="Arial"/>
                <a:ea typeface="Arial"/>
                <a:cs typeface="Arial"/>
                <a:sym typeface="Arial"/>
              </a:rPr>
              <a:t>Best model: Word2Vec previous-item</a:t>
            </a:r>
            <a:endParaRPr sz="13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5"/>
          <p:cNvSpPr/>
          <p:nvPr/>
        </p:nvSpPr>
        <p:spPr>
          <a:xfrm>
            <a:off x="8302752" y="4709160"/>
            <a:ext cx="2788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5"/>
          <p:cNvSpPr/>
          <p:nvPr/>
        </p:nvSpPr>
        <p:spPr>
          <a:xfrm>
            <a:off x="8641080" y="5742432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BD1E6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BBD1E6"/>
                </a:solidFill>
                <a:latin typeface="Arial"/>
                <a:ea typeface="Arial"/>
                <a:cs typeface="Arial"/>
                <a:sym typeface="Arial"/>
              </a:rPr>
              <a:t>Evros Vasileiou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5"/>
          <p:cNvSpPr/>
          <p:nvPr/>
        </p:nvSpPr>
        <p:spPr>
          <a:xfrm>
            <a:off x="8430768" y="5971032"/>
            <a:ext cx="24688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BD1E6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BBD1E6"/>
                </a:solidFill>
                <a:latin typeface="Arial"/>
                <a:ea typeface="Arial"/>
                <a:cs typeface="Arial"/>
                <a:sym typeface="Arial"/>
              </a:rPr>
              <a:t>University of Nicosia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2277</Words>
  <Application>Microsoft Office PowerPoint</Application>
  <PresentationFormat>Widescreen</PresentationFormat>
  <Paragraphs>351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Evros Vasileiou</cp:lastModifiedBy>
  <cp:revision>4</cp:revision>
  <dcterms:modified xsi:type="dcterms:W3CDTF">2026-04-19T11:55:47Z</dcterms:modified>
</cp:coreProperties>
</file>